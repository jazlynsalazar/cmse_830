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9"/>
  </p:notesMasterIdLst>
  <p:handoutMasterIdLst>
    <p:handoutMasterId r:id="rId10"/>
  </p:handoutMasterIdLst>
  <p:sldIdLst>
    <p:sldId id="309" r:id="rId2"/>
    <p:sldId id="311" r:id="rId3"/>
    <p:sldId id="312" r:id="rId4"/>
    <p:sldId id="313" r:id="rId5"/>
    <p:sldId id="314" r:id="rId6"/>
    <p:sldId id="315" r:id="rId7"/>
    <p:sldId id="319" r:id="rId8"/>
  </p:sldIdLst>
  <p:sldSz cx="9144000" cy="5143500" type="screen16x9"/>
  <p:notesSz cx="7099300" cy="93853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56">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18453B"/>
    <a:srgbClr val="064339"/>
    <a:srgbClr val="99CCFF"/>
    <a:srgbClr val="0C533A"/>
    <a:srgbClr val="94AE4A"/>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44" autoAdjust="0"/>
    <p:restoredTop sz="59149" autoAdjust="0"/>
  </p:normalViewPr>
  <p:slideViewPr>
    <p:cSldViewPr snapToGrid="0" snapToObjects="1">
      <p:cViewPr>
        <p:scale>
          <a:sx n="62" d="100"/>
          <a:sy n="62" d="100"/>
        </p:scale>
        <p:origin x="472" y="67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p:scale>
          <a:sx n="90" d="100"/>
          <a:sy n="90" d="100"/>
        </p:scale>
        <p:origin x="3154" y="101"/>
      </p:cViewPr>
      <p:guideLst>
        <p:guide orient="horz" pos="2956"/>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EA00F2-7572-9A48-B527-C317564A465D}" type="doc">
      <dgm:prSet loTypeId="urn:microsoft.com/office/officeart/2005/8/layout/process4" loCatId="" qsTypeId="urn:microsoft.com/office/officeart/2005/8/quickstyle/simple1" qsCatId="simple" csTypeId="urn:microsoft.com/office/officeart/2005/8/colors/accent6_4" csCatId="accent6" phldr="1"/>
      <dgm:spPr/>
      <dgm:t>
        <a:bodyPr/>
        <a:lstStyle/>
        <a:p>
          <a:endParaRPr lang="en-US"/>
        </a:p>
      </dgm:t>
    </dgm:pt>
    <dgm:pt modelId="{95BCC1FF-1B82-FD48-BF56-C971D015A017}">
      <dgm:prSet phldrT="[Text]"/>
      <dgm:spPr/>
      <dgm:t>
        <a:bodyPr/>
        <a:lstStyle/>
        <a:p>
          <a:r>
            <a:rPr lang="en-US" dirty="0"/>
            <a:t>Leaf Images</a:t>
          </a:r>
        </a:p>
      </dgm:t>
    </dgm:pt>
    <dgm:pt modelId="{A730AF78-B699-784E-917C-DD6ECBBE62A5}" type="parTrans" cxnId="{2079FA6B-BBDD-5147-A405-B2C8F6F934E3}">
      <dgm:prSet/>
      <dgm:spPr/>
      <dgm:t>
        <a:bodyPr/>
        <a:lstStyle/>
        <a:p>
          <a:endParaRPr lang="en-US"/>
        </a:p>
      </dgm:t>
    </dgm:pt>
    <dgm:pt modelId="{03557596-17E9-644E-8F2F-D4F8A049971C}" type="sibTrans" cxnId="{2079FA6B-BBDD-5147-A405-B2C8F6F934E3}">
      <dgm:prSet/>
      <dgm:spPr/>
      <dgm:t>
        <a:bodyPr/>
        <a:lstStyle/>
        <a:p>
          <a:endParaRPr lang="en-US"/>
        </a:p>
      </dgm:t>
    </dgm:pt>
    <dgm:pt modelId="{77156F2D-0F86-4F44-9C9E-FDE46A76952B}">
      <dgm:prSet phldrT="[Text]"/>
      <dgm:spPr/>
      <dgm:t>
        <a:bodyPr/>
        <a:lstStyle/>
        <a:p>
          <a:r>
            <a:rPr lang="en-US" dirty="0"/>
            <a:t>Feature Extraction</a:t>
          </a:r>
        </a:p>
      </dgm:t>
    </dgm:pt>
    <dgm:pt modelId="{FCCB7731-80AC-924E-B709-ADEEB30C445D}" type="parTrans" cxnId="{865A3B70-91A7-2C4A-B829-D516CEEE19EE}">
      <dgm:prSet/>
      <dgm:spPr/>
      <dgm:t>
        <a:bodyPr/>
        <a:lstStyle/>
        <a:p>
          <a:endParaRPr lang="en-US"/>
        </a:p>
      </dgm:t>
    </dgm:pt>
    <dgm:pt modelId="{5DAF6C92-281B-0347-897D-D7EAFA631036}" type="sibTrans" cxnId="{865A3B70-91A7-2C4A-B829-D516CEEE19EE}">
      <dgm:prSet/>
      <dgm:spPr/>
      <dgm:t>
        <a:bodyPr/>
        <a:lstStyle/>
        <a:p>
          <a:endParaRPr lang="en-US"/>
        </a:p>
      </dgm:t>
    </dgm:pt>
    <dgm:pt modelId="{D4419E9D-2D76-C14F-B3A7-FCAE156FE9D4}">
      <dgm:prSet phldrT="[Text]"/>
      <dgm:spPr/>
      <dgm:t>
        <a:bodyPr/>
        <a:lstStyle/>
        <a:p>
          <a:r>
            <a:rPr lang="en-US" dirty="0"/>
            <a:t>Feature Dataset</a:t>
          </a:r>
        </a:p>
      </dgm:t>
    </dgm:pt>
    <dgm:pt modelId="{1D9EC3D6-B496-2B48-ACA4-4C941FAA4A5E}" type="parTrans" cxnId="{12FDF500-7C99-2B42-ADE0-BC75C0DE6681}">
      <dgm:prSet/>
      <dgm:spPr/>
      <dgm:t>
        <a:bodyPr/>
        <a:lstStyle/>
        <a:p>
          <a:endParaRPr lang="en-US"/>
        </a:p>
      </dgm:t>
    </dgm:pt>
    <dgm:pt modelId="{43CA6631-2988-0A4E-8473-337000F9D867}" type="sibTrans" cxnId="{12FDF500-7C99-2B42-ADE0-BC75C0DE6681}">
      <dgm:prSet/>
      <dgm:spPr/>
      <dgm:t>
        <a:bodyPr/>
        <a:lstStyle/>
        <a:p>
          <a:endParaRPr lang="en-US"/>
        </a:p>
      </dgm:t>
    </dgm:pt>
    <dgm:pt modelId="{9A1D1217-1334-5A49-8FB7-32B0CE79F52C}">
      <dgm:prSet phldrT="[Text]"/>
      <dgm:spPr/>
      <dgm:t>
        <a:bodyPr/>
        <a:lstStyle/>
        <a:p>
          <a:r>
            <a:rPr lang="en-US" dirty="0"/>
            <a:t>Machine Learning Models</a:t>
          </a:r>
        </a:p>
      </dgm:t>
    </dgm:pt>
    <dgm:pt modelId="{954F8D79-765C-764F-8235-CC0EACC7DD26}" type="parTrans" cxnId="{C8467B7D-0F83-B646-987D-C5B99D73D589}">
      <dgm:prSet/>
      <dgm:spPr/>
      <dgm:t>
        <a:bodyPr/>
        <a:lstStyle/>
        <a:p>
          <a:endParaRPr lang="en-US"/>
        </a:p>
      </dgm:t>
    </dgm:pt>
    <dgm:pt modelId="{5A0D02C9-5997-3D45-B4DC-ABB4A6E08378}" type="sibTrans" cxnId="{C8467B7D-0F83-B646-987D-C5B99D73D589}">
      <dgm:prSet/>
      <dgm:spPr/>
      <dgm:t>
        <a:bodyPr/>
        <a:lstStyle/>
        <a:p>
          <a:endParaRPr lang="en-US"/>
        </a:p>
      </dgm:t>
    </dgm:pt>
    <dgm:pt modelId="{BDBA2D98-38D4-6744-9F6B-5CE9E93A3599}" type="pres">
      <dgm:prSet presAssocID="{D7EA00F2-7572-9A48-B527-C317564A465D}" presName="Name0" presStyleCnt="0">
        <dgm:presLayoutVars>
          <dgm:dir/>
          <dgm:animLvl val="lvl"/>
          <dgm:resizeHandles val="exact"/>
        </dgm:presLayoutVars>
      </dgm:prSet>
      <dgm:spPr/>
    </dgm:pt>
    <dgm:pt modelId="{A9ECDDA9-40D0-2F47-814C-71684ECA4D2B}" type="pres">
      <dgm:prSet presAssocID="{9A1D1217-1334-5A49-8FB7-32B0CE79F52C}" presName="boxAndChildren" presStyleCnt="0"/>
      <dgm:spPr/>
    </dgm:pt>
    <dgm:pt modelId="{50827DD3-2DFB-1B47-8D4B-F21F924F9766}" type="pres">
      <dgm:prSet presAssocID="{9A1D1217-1334-5A49-8FB7-32B0CE79F52C}" presName="parentTextBox" presStyleLbl="node1" presStyleIdx="0" presStyleCnt="4"/>
      <dgm:spPr/>
    </dgm:pt>
    <dgm:pt modelId="{A8718759-B7EA-0B46-A7E5-E8686EE764F0}" type="pres">
      <dgm:prSet presAssocID="{43CA6631-2988-0A4E-8473-337000F9D867}" presName="sp" presStyleCnt="0"/>
      <dgm:spPr/>
    </dgm:pt>
    <dgm:pt modelId="{3B424418-6428-C74F-9567-961847E56CAB}" type="pres">
      <dgm:prSet presAssocID="{D4419E9D-2D76-C14F-B3A7-FCAE156FE9D4}" presName="arrowAndChildren" presStyleCnt="0"/>
      <dgm:spPr/>
    </dgm:pt>
    <dgm:pt modelId="{1C20C3A8-60BA-914F-8EA9-0E12BB80A289}" type="pres">
      <dgm:prSet presAssocID="{D4419E9D-2D76-C14F-B3A7-FCAE156FE9D4}" presName="parentTextArrow" presStyleLbl="node1" presStyleIdx="1" presStyleCnt="4"/>
      <dgm:spPr/>
    </dgm:pt>
    <dgm:pt modelId="{990A98DB-899F-D848-80BE-2A7B61A2D235}" type="pres">
      <dgm:prSet presAssocID="{5DAF6C92-281B-0347-897D-D7EAFA631036}" presName="sp" presStyleCnt="0"/>
      <dgm:spPr/>
    </dgm:pt>
    <dgm:pt modelId="{08FB4BAC-B280-CC43-BEE3-E8D49613AEAD}" type="pres">
      <dgm:prSet presAssocID="{77156F2D-0F86-4F44-9C9E-FDE46A76952B}" presName="arrowAndChildren" presStyleCnt="0"/>
      <dgm:spPr/>
    </dgm:pt>
    <dgm:pt modelId="{060F5A62-44FE-CF47-B3B7-73EB83FC095D}" type="pres">
      <dgm:prSet presAssocID="{77156F2D-0F86-4F44-9C9E-FDE46A76952B}" presName="parentTextArrow" presStyleLbl="node1" presStyleIdx="2" presStyleCnt="4"/>
      <dgm:spPr/>
    </dgm:pt>
    <dgm:pt modelId="{4B80E1CA-EB8E-BF43-A16B-19269B90B869}" type="pres">
      <dgm:prSet presAssocID="{03557596-17E9-644E-8F2F-D4F8A049971C}" presName="sp" presStyleCnt="0"/>
      <dgm:spPr/>
    </dgm:pt>
    <dgm:pt modelId="{C1A311BF-AA60-A442-8E98-10DB9B44C81E}" type="pres">
      <dgm:prSet presAssocID="{95BCC1FF-1B82-FD48-BF56-C971D015A017}" presName="arrowAndChildren" presStyleCnt="0"/>
      <dgm:spPr/>
    </dgm:pt>
    <dgm:pt modelId="{7D80192A-49B0-2A4A-80FE-8C1786DB5F44}" type="pres">
      <dgm:prSet presAssocID="{95BCC1FF-1B82-FD48-BF56-C971D015A017}" presName="parentTextArrow" presStyleLbl="node1" presStyleIdx="3" presStyleCnt="4" custLinFactNeighborX="-15070" custLinFactNeighborY="-6656"/>
      <dgm:spPr/>
    </dgm:pt>
  </dgm:ptLst>
  <dgm:cxnLst>
    <dgm:cxn modelId="{12FDF500-7C99-2B42-ADE0-BC75C0DE6681}" srcId="{D7EA00F2-7572-9A48-B527-C317564A465D}" destId="{D4419E9D-2D76-C14F-B3A7-FCAE156FE9D4}" srcOrd="2" destOrd="0" parTransId="{1D9EC3D6-B496-2B48-ACA4-4C941FAA4A5E}" sibTransId="{43CA6631-2988-0A4E-8473-337000F9D867}"/>
    <dgm:cxn modelId="{4E7BAF13-887F-F349-9B19-1B9CC2355F6E}" type="presOf" srcId="{9A1D1217-1334-5A49-8FB7-32B0CE79F52C}" destId="{50827DD3-2DFB-1B47-8D4B-F21F924F9766}" srcOrd="0" destOrd="0" presId="urn:microsoft.com/office/officeart/2005/8/layout/process4"/>
    <dgm:cxn modelId="{511BCB63-2605-FC4F-A56B-FBB808FE3A1B}" type="presOf" srcId="{95BCC1FF-1B82-FD48-BF56-C971D015A017}" destId="{7D80192A-49B0-2A4A-80FE-8C1786DB5F44}" srcOrd="0" destOrd="0" presId="urn:microsoft.com/office/officeart/2005/8/layout/process4"/>
    <dgm:cxn modelId="{2079FA6B-BBDD-5147-A405-B2C8F6F934E3}" srcId="{D7EA00F2-7572-9A48-B527-C317564A465D}" destId="{95BCC1FF-1B82-FD48-BF56-C971D015A017}" srcOrd="0" destOrd="0" parTransId="{A730AF78-B699-784E-917C-DD6ECBBE62A5}" sibTransId="{03557596-17E9-644E-8F2F-D4F8A049971C}"/>
    <dgm:cxn modelId="{865A3B70-91A7-2C4A-B829-D516CEEE19EE}" srcId="{D7EA00F2-7572-9A48-B527-C317564A465D}" destId="{77156F2D-0F86-4F44-9C9E-FDE46A76952B}" srcOrd="1" destOrd="0" parTransId="{FCCB7731-80AC-924E-B709-ADEEB30C445D}" sibTransId="{5DAF6C92-281B-0347-897D-D7EAFA631036}"/>
    <dgm:cxn modelId="{C8467B7D-0F83-B646-987D-C5B99D73D589}" srcId="{D7EA00F2-7572-9A48-B527-C317564A465D}" destId="{9A1D1217-1334-5A49-8FB7-32B0CE79F52C}" srcOrd="3" destOrd="0" parTransId="{954F8D79-765C-764F-8235-CC0EACC7DD26}" sibTransId="{5A0D02C9-5997-3D45-B4DC-ABB4A6E08378}"/>
    <dgm:cxn modelId="{07D00992-BDA7-2343-8BDA-38933052B6B1}" type="presOf" srcId="{D7EA00F2-7572-9A48-B527-C317564A465D}" destId="{BDBA2D98-38D4-6744-9F6B-5CE9E93A3599}" srcOrd="0" destOrd="0" presId="urn:microsoft.com/office/officeart/2005/8/layout/process4"/>
    <dgm:cxn modelId="{227B45D0-2B3E-6043-8E16-CFD00110EF34}" type="presOf" srcId="{D4419E9D-2D76-C14F-B3A7-FCAE156FE9D4}" destId="{1C20C3A8-60BA-914F-8EA9-0E12BB80A289}" srcOrd="0" destOrd="0" presId="urn:microsoft.com/office/officeart/2005/8/layout/process4"/>
    <dgm:cxn modelId="{9C06E5DA-A806-2D4D-9AAF-00BB72727F6D}" type="presOf" srcId="{77156F2D-0F86-4F44-9C9E-FDE46A76952B}" destId="{060F5A62-44FE-CF47-B3B7-73EB83FC095D}" srcOrd="0" destOrd="0" presId="urn:microsoft.com/office/officeart/2005/8/layout/process4"/>
    <dgm:cxn modelId="{EB4CC895-6DA6-FC4D-ADF0-0DC04DBCC7DC}" type="presParOf" srcId="{BDBA2D98-38D4-6744-9F6B-5CE9E93A3599}" destId="{A9ECDDA9-40D0-2F47-814C-71684ECA4D2B}" srcOrd="0" destOrd="0" presId="urn:microsoft.com/office/officeart/2005/8/layout/process4"/>
    <dgm:cxn modelId="{6B7053E3-E9B2-A848-ADDB-5B2F247B9B85}" type="presParOf" srcId="{A9ECDDA9-40D0-2F47-814C-71684ECA4D2B}" destId="{50827DD3-2DFB-1B47-8D4B-F21F924F9766}" srcOrd="0" destOrd="0" presId="urn:microsoft.com/office/officeart/2005/8/layout/process4"/>
    <dgm:cxn modelId="{583D1649-1D2B-C04C-881A-576BD150BE50}" type="presParOf" srcId="{BDBA2D98-38D4-6744-9F6B-5CE9E93A3599}" destId="{A8718759-B7EA-0B46-A7E5-E8686EE764F0}" srcOrd="1" destOrd="0" presId="urn:microsoft.com/office/officeart/2005/8/layout/process4"/>
    <dgm:cxn modelId="{13B4E32C-3EA8-EC49-A3D2-78EAAB9BA0A2}" type="presParOf" srcId="{BDBA2D98-38D4-6744-9F6B-5CE9E93A3599}" destId="{3B424418-6428-C74F-9567-961847E56CAB}" srcOrd="2" destOrd="0" presId="urn:microsoft.com/office/officeart/2005/8/layout/process4"/>
    <dgm:cxn modelId="{6BB6D911-E535-F046-B22B-4877D0B6ACE5}" type="presParOf" srcId="{3B424418-6428-C74F-9567-961847E56CAB}" destId="{1C20C3A8-60BA-914F-8EA9-0E12BB80A289}" srcOrd="0" destOrd="0" presId="urn:microsoft.com/office/officeart/2005/8/layout/process4"/>
    <dgm:cxn modelId="{99AED709-1687-B845-BB91-C49D6E5A863B}" type="presParOf" srcId="{BDBA2D98-38D4-6744-9F6B-5CE9E93A3599}" destId="{990A98DB-899F-D848-80BE-2A7B61A2D235}" srcOrd="3" destOrd="0" presId="urn:microsoft.com/office/officeart/2005/8/layout/process4"/>
    <dgm:cxn modelId="{03BD2C53-9037-ED40-B112-B9B41F69C422}" type="presParOf" srcId="{BDBA2D98-38D4-6744-9F6B-5CE9E93A3599}" destId="{08FB4BAC-B280-CC43-BEE3-E8D49613AEAD}" srcOrd="4" destOrd="0" presId="urn:microsoft.com/office/officeart/2005/8/layout/process4"/>
    <dgm:cxn modelId="{83FF98F5-F4ED-1045-B81B-B03838A79A15}" type="presParOf" srcId="{08FB4BAC-B280-CC43-BEE3-E8D49613AEAD}" destId="{060F5A62-44FE-CF47-B3B7-73EB83FC095D}" srcOrd="0" destOrd="0" presId="urn:microsoft.com/office/officeart/2005/8/layout/process4"/>
    <dgm:cxn modelId="{73AB644F-F321-324D-B216-A9175B88BAF8}" type="presParOf" srcId="{BDBA2D98-38D4-6744-9F6B-5CE9E93A3599}" destId="{4B80E1CA-EB8E-BF43-A16B-19269B90B869}" srcOrd="5" destOrd="0" presId="urn:microsoft.com/office/officeart/2005/8/layout/process4"/>
    <dgm:cxn modelId="{2A50A887-D86B-924C-AD6B-13D4D676E09D}" type="presParOf" srcId="{BDBA2D98-38D4-6744-9F6B-5CE9E93A3599}" destId="{C1A311BF-AA60-A442-8E98-10DB9B44C81E}" srcOrd="6" destOrd="0" presId="urn:microsoft.com/office/officeart/2005/8/layout/process4"/>
    <dgm:cxn modelId="{DAB68D04-4DD0-FA4C-872F-05EB2FF6DA94}" type="presParOf" srcId="{C1A311BF-AA60-A442-8E98-10DB9B44C81E}" destId="{7D80192A-49B0-2A4A-80FE-8C1786DB5F44}"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827DD3-2DFB-1B47-8D4B-F21F924F9766}">
      <dsp:nvSpPr>
        <dsp:cNvPr id="0" name=""/>
        <dsp:cNvSpPr/>
      </dsp:nvSpPr>
      <dsp:spPr>
        <a:xfrm>
          <a:off x="0" y="2788110"/>
          <a:ext cx="3655850" cy="609970"/>
        </a:xfrm>
        <a:prstGeom prst="rect">
          <a:avLst/>
        </a:prstGeom>
        <a:solidFill>
          <a:schemeClr val="accent6">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Machine Learning Models</a:t>
          </a:r>
        </a:p>
      </dsp:txBody>
      <dsp:txXfrm>
        <a:off x="0" y="2788110"/>
        <a:ext cx="3655850" cy="609970"/>
      </dsp:txXfrm>
    </dsp:sp>
    <dsp:sp modelId="{1C20C3A8-60BA-914F-8EA9-0E12BB80A289}">
      <dsp:nvSpPr>
        <dsp:cNvPr id="0" name=""/>
        <dsp:cNvSpPr/>
      </dsp:nvSpPr>
      <dsp:spPr>
        <a:xfrm rot="10800000">
          <a:off x="0" y="1859125"/>
          <a:ext cx="3655850" cy="938134"/>
        </a:xfrm>
        <a:prstGeom prst="upArrowCallout">
          <a:avLst/>
        </a:prstGeom>
        <a:solidFill>
          <a:schemeClr val="accent6">
            <a:shade val="50000"/>
            <a:hueOff val="184212"/>
            <a:satOff val="-8053"/>
            <a:lumOff val="21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Feature Dataset</a:t>
          </a:r>
        </a:p>
      </dsp:txBody>
      <dsp:txXfrm rot="10800000">
        <a:off x="0" y="1859125"/>
        <a:ext cx="3655850" cy="609571"/>
      </dsp:txXfrm>
    </dsp:sp>
    <dsp:sp modelId="{060F5A62-44FE-CF47-B3B7-73EB83FC095D}">
      <dsp:nvSpPr>
        <dsp:cNvPr id="0" name=""/>
        <dsp:cNvSpPr/>
      </dsp:nvSpPr>
      <dsp:spPr>
        <a:xfrm rot="10800000">
          <a:off x="0" y="930140"/>
          <a:ext cx="3655850" cy="938134"/>
        </a:xfrm>
        <a:prstGeom prst="upArrowCallout">
          <a:avLst/>
        </a:prstGeom>
        <a:solidFill>
          <a:schemeClr val="accent6">
            <a:shade val="50000"/>
            <a:hueOff val="368424"/>
            <a:satOff val="-16105"/>
            <a:lumOff val="43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Feature Extraction</a:t>
          </a:r>
        </a:p>
      </dsp:txBody>
      <dsp:txXfrm rot="10800000">
        <a:off x="0" y="930140"/>
        <a:ext cx="3655850" cy="609571"/>
      </dsp:txXfrm>
    </dsp:sp>
    <dsp:sp modelId="{7D80192A-49B0-2A4A-80FE-8C1786DB5F44}">
      <dsp:nvSpPr>
        <dsp:cNvPr id="0" name=""/>
        <dsp:cNvSpPr/>
      </dsp:nvSpPr>
      <dsp:spPr>
        <a:xfrm rot="10800000">
          <a:off x="0" y="0"/>
          <a:ext cx="3655850" cy="938134"/>
        </a:xfrm>
        <a:prstGeom prst="upArrowCallout">
          <a:avLst/>
        </a:prstGeom>
        <a:solidFill>
          <a:schemeClr val="accent6">
            <a:shade val="50000"/>
            <a:hueOff val="184212"/>
            <a:satOff val="-8053"/>
            <a:lumOff val="21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Leaf Images</a:t>
          </a:r>
        </a:p>
      </dsp:txBody>
      <dsp:txXfrm rot="10800000">
        <a:off x="0" y="0"/>
        <a:ext cx="3655850" cy="609571"/>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1"/>
            <a:ext cx="3076470" cy="468786"/>
          </a:xfrm>
          <a:prstGeom prst="rect">
            <a:avLst/>
          </a:prstGeom>
        </p:spPr>
        <p:txBody>
          <a:bodyPr vert="horz" lIns="92254" tIns="46127" rIns="92254" bIns="46127" rtlCol="0"/>
          <a:lstStyle>
            <a:lvl1pPr algn="l">
              <a:defRPr sz="1200"/>
            </a:lvl1pPr>
          </a:lstStyle>
          <a:p>
            <a:endParaRPr lang="en-US"/>
          </a:p>
        </p:txBody>
      </p:sp>
      <p:sp>
        <p:nvSpPr>
          <p:cNvPr id="3" name="Date Placeholder 2"/>
          <p:cNvSpPr>
            <a:spLocks noGrp="1"/>
          </p:cNvSpPr>
          <p:nvPr>
            <p:ph type="dt" sz="quarter" idx="1"/>
          </p:nvPr>
        </p:nvSpPr>
        <p:spPr>
          <a:xfrm>
            <a:off x="4021228" y="1"/>
            <a:ext cx="3076470" cy="468786"/>
          </a:xfrm>
          <a:prstGeom prst="rect">
            <a:avLst/>
          </a:prstGeom>
        </p:spPr>
        <p:txBody>
          <a:bodyPr vert="horz" lIns="92254" tIns="46127" rIns="92254" bIns="46127" rtlCol="0"/>
          <a:lstStyle>
            <a:lvl1pPr algn="r">
              <a:defRPr sz="1200"/>
            </a:lvl1pPr>
          </a:lstStyle>
          <a:p>
            <a:fld id="{73128D11-0FE7-4AB9-9F75-B230F9DE2CFF}" type="datetimeFigureOut">
              <a:rPr lang="en-US" smtClean="0"/>
              <a:t>10/20/26</a:t>
            </a:fld>
            <a:endParaRPr lang="en-US"/>
          </a:p>
        </p:txBody>
      </p:sp>
      <p:sp>
        <p:nvSpPr>
          <p:cNvPr id="4" name="Footer Placeholder 3"/>
          <p:cNvSpPr>
            <a:spLocks noGrp="1"/>
          </p:cNvSpPr>
          <p:nvPr>
            <p:ph type="ftr" sz="quarter" idx="2"/>
          </p:nvPr>
        </p:nvSpPr>
        <p:spPr>
          <a:xfrm>
            <a:off x="2" y="8914916"/>
            <a:ext cx="3076470" cy="468786"/>
          </a:xfrm>
          <a:prstGeom prst="rect">
            <a:avLst/>
          </a:prstGeom>
        </p:spPr>
        <p:txBody>
          <a:bodyPr vert="horz" lIns="92254" tIns="46127" rIns="92254" bIns="46127"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21228" y="8914916"/>
            <a:ext cx="3076470" cy="468786"/>
          </a:xfrm>
          <a:prstGeom prst="rect">
            <a:avLst/>
          </a:prstGeom>
        </p:spPr>
        <p:txBody>
          <a:bodyPr vert="horz" lIns="92254" tIns="46127" rIns="92254" bIns="46127" rtlCol="0" anchor="b"/>
          <a:lstStyle>
            <a:lvl1pPr algn="r">
              <a:defRPr sz="1200"/>
            </a:lvl1pPr>
          </a:lstStyle>
          <a:p>
            <a:fld id="{DDAE28E7-E6EC-4E5A-BC38-A6796B1A94BD}" type="slidenum">
              <a:rPr lang="en-US" smtClean="0"/>
              <a:t>‹#›</a:t>
            </a:fld>
            <a:endParaRPr lang="en-US"/>
          </a:p>
        </p:txBody>
      </p:sp>
    </p:spTree>
    <p:extLst>
      <p:ext uri="{BB962C8B-B14F-4D97-AF65-F5344CB8AC3E}">
        <p14:creationId xmlns:p14="http://schemas.microsoft.com/office/powerpoint/2010/main" val="180533605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76363" cy="469265"/>
          </a:xfrm>
          <a:prstGeom prst="rect">
            <a:avLst/>
          </a:prstGeom>
        </p:spPr>
        <p:txBody>
          <a:bodyPr vert="horz" lIns="94191" tIns="47095" rIns="94191" bIns="47095" rtlCol="0"/>
          <a:lstStyle>
            <a:lvl1pPr algn="l">
              <a:defRPr sz="1200" smtClean="0"/>
            </a:lvl1pPr>
          </a:lstStyle>
          <a:p>
            <a:pPr>
              <a:defRPr/>
            </a:pPr>
            <a:endParaRPr lang="en-US"/>
          </a:p>
        </p:txBody>
      </p:sp>
      <p:sp>
        <p:nvSpPr>
          <p:cNvPr id="3" name="Date Placeholder 2"/>
          <p:cNvSpPr>
            <a:spLocks noGrp="1"/>
          </p:cNvSpPr>
          <p:nvPr>
            <p:ph type="dt" idx="1"/>
          </p:nvPr>
        </p:nvSpPr>
        <p:spPr>
          <a:xfrm>
            <a:off x="4021296" y="0"/>
            <a:ext cx="3076363" cy="469265"/>
          </a:xfrm>
          <a:prstGeom prst="rect">
            <a:avLst/>
          </a:prstGeom>
        </p:spPr>
        <p:txBody>
          <a:bodyPr vert="horz" lIns="94191" tIns="47095" rIns="94191" bIns="47095" rtlCol="0"/>
          <a:lstStyle>
            <a:lvl1pPr algn="r">
              <a:defRPr sz="1200" smtClean="0"/>
            </a:lvl1pPr>
          </a:lstStyle>
          <a:p>
            <a:pPr>
              <a:defRPr/>
            </a:pPr>
            <a:fld id="{DD70F524-486A-4416-AF5E-34D1A4A02C75}" type="datetimeFigureOut">
              <a:rPr lang="en-US"/>
              <a:pPr>
                <a:defRPr/>
              </a:pPr>
              <a:t>10/20/26</a:t>
            </a:fld>
            <a:endParaRPr lang="en-US"/>
          </a:p>
        </p:txBody>
      </p:sp>
      <p:sp>
        <p:nvSpPr>
          <p:cNvPr id="4" name="Slide Image Placeholder 3"/>
          <p:cNvSpPr>
            <a:spLocks noGrp="1" noRot="1" noChangeAspect="1"/>
          </p:cNvSpPr>
          <p:nvPr>
            <p:ph type="sldImg" idx="2"/>
          </p:nvPr>
        </p:nvSpPr>
        <p:spPr>
          <a:xfrm>
            <a:off x="420688" y="703263"/>
            <a:ext cx="6257925" cy="3521075"/>
          </a:xfrm>
          <a:prstGeom prst="rect">
            <a:avLst/>
          </a:prstGeom>
          <a:noFill/>
          <a:ln w="12700">
            <a:solidFill>
              <a:prstClr val="black"/>
            </a:solidFill>
          </a:ln>
        </p:spPr>
        <p:txBody>
          <a:bodyPr vert="horz" lIns="94191" tIns="47095" rIns="94191" bIns="47095" rtlCol="0" anchor="ct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lIns="94191" tIns="47095" rIns="94191" bIns="47095"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914406"/>
            <a:ext cx="3076363" cy="469265"/>
          </a:xfrm>
          <a:prstGeom prst="rect">
            <a:avLst/>
          </a:prstGeom>
        </p:spPr>
        <p:txBody>
          <a:bodyPr vert="horz" lIns="94191" tIns="47095" rIns="94191" bIns="47095" rtlCol="0" anchor="b"/>
          <a:lstStyle>
            <a:lvl1pPr algn="l">
              <a:defRPr sz="1200" smtClean="0"/>
            </a:lvl1pPr>
          </a:lstStyle>
          <a:p>
            <a:pPr>
              <a:defRPr/>
            </a:pPr>
            <a:endParaRPr lang="en-US" dirty="0"/>
          </a:p>
        </p:txBody>
      </p:sp>
      <p:sp>
        <p:nvSpPr>
          <p:cNvPr id="7" name="Slide Number Placeholder 6"/>
          <p:cNvSpPr>
            <a:spLocks noGrp="1"/>
          </p:cNvSpPr>
          <p:nvPr>
            <p:ph type="sldNum" sz="quarter" idx="5"/>
          </p:nvPr>
        </p:nvSpPr>
        <p:spPr>
          <a:xfrm>
            <a:off x="4021296" y="8914406"/>
            <a:ext cx="3076363" cy="469265"/>
          </a:xfrm>
          <a:prstGeom prst="rect">
            <a:avLst/>
          </a:prstGeom>
        </p:spPr>
        <p:txBody>
          <a:bodyPr vert="horz" lIns="94191" tIns="47095" rIns="94191" bIns="47095" rtlCol="0" anchor="b"/>
          <a:lstStyle>
            <a:lvl1pPr algn="r">
              <a:defRPr sz="1200" smtClean="0"/>
            </a:lvl1pPr>
          </a:lstStyle>
          <a:p>
            <a:pPr>
              <a:defRPr/>
            </a:pPr>
            <a:fld id="{0F562E72-9B19-4F0E-84F5-E88D4B39FE3D}" type="slidenum">
              <a:rPr lang="en-US"/>
              <a:pPr>
                <a:defRPr/>
              </a:pPr>
              <a:t>‹#›</a:t>
            </a:fld>
            <a:endParaRPr lang="en-US"/>
          </a:p>
        </p:txBody>
      </p:sp>
    </p:spTree>
    <p:extLst>
      <p:ext uri="{BB962C8B-B14F-4D97-AF65-F5344CB8AC3E}">
        <p14:creationId xmlns:p14="http://schemas.microsoft.com/office/powerpoint/2010/main" val="2145331666"/>
      </p:ext>
    </p:extLst>
  </p:cSld>
  <p:clrMap bg1="lt1" tx1="dk1" bg2="lt2" tx2="dk2" accent1="accent1" accent2="accent2" accent3="accent3" accent4="accent4" accent5="accent5" accent6="accent6" hlink="hlink" folHlink="folHlink"/>
  <p:hf hdr="0" ftr="0"/>
  <p:notesStyle>
    <a:lvl1pPr algn="l" rtl="0" fontAlgn="base">
      <a:spcBef>
        <a:spcPct val="30000"/>
      </a:spcBef>
      <a:spcAft>
        <a:spcPct val="0"/>
      </a:spcAft>
      <a:defRPr sz="900" kern="1200">
        <a:solidFill>
          <a:schemeClr val="tx1"/>
        </a:solidFill>
        <a:latin typeface="+mn-lt"/>
        <a:ea typeface="+mn-ea"/>
        <a:cs typeface="+mn-cs"/>
      </a:defRPr>
    </a:lvl1pPr>
    <a:lvl2pPr marL="342900" algn="l" rtl="0" fontAlgn="base">
      <a:spcBef>
        <a:spcPct val="30000"/>
      </a:spcBef>
      <a:spcAft>
        <a:spcPct val="0"/>
      </a:spcAft>
      <a:defRPr sz="900" kern="1200">
        <a:solidFill>
          <a:schemeClr val="tx1"/>
        </a:solidFill>
        <a:latin typeface="+mn-lt"/>
        <a:ea typeface="+mn-ea"/>
        <a:cs typeface="+mn-cs"/>
      </a:defRPr>
    </a:lvl2pPr>
    <a:lvl3pPr marL="685800" algn="l" rtl="0" fontAlgn="base">
      <a:spcBef>
        <a:spcPct val="30000"/>
      </a:spcBef>
      <a:spcAft>
        <a:spcPct val="0"/>
      </a:spcAft>
      <a:defRPr sz="900" kern="1200">
        <a:solidFill>
          <a:schemeClr val="tx1"/>
        </a:solidFill>
        <a:latin typeface="+mn-lt"/>
        <a:ea typeface="+mn-ea"/>
        <a:cs typeface="+mn-cs"/>
      </a:defRPr>
    </a:lvl3pPr>
    <a:lvl4pPr marL="1028700" algn="l" rtl="0" fontAlgn="base">
      <a:spcBef>
        <a:spcPct val="30000"/>
      </a:spcBef>
      <a:spcAft>
        <a:spcPct val="0"/>
      </a:spcAft>
      <a:defRPr sz="900" kern="1200">
        <a:solidFill>
          <a:schemeClr val="tx1"/>
        </a:solidFill>
        <a:latin typeface="+mn-lt"/>
        <a:ea typeface="+mn-ea"/>
        <a:cs typeface="+mn-cs"/>
      </a:defRPr>
    </a:lvl4pPr>
    <a:lvl5pPr marL="1371600" algn="l" rtl="0" fontAlgn="base">
      <a:spcBef>
        <a:spcPct val="30000"/>
      </a:spcBef>
      <a:spcAft>
        <a:spcPct val="0"/>
      </a:spcAft>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0688" y="703263"/>
            <a:ext cx="6257925" cy="3521075"/>
          </a:xfrm>
        </p:spPr>
      </p:sp>
      <p:sp>
        <p:nvSpPr>
          <p:cNvPr id="3" name="Notes Placeholder 2"/>
          <p:cNvSpPr>
            <a:spLocks noGrp="1"/>
          </p:cNvSpPr>
          <p:nvPr>
            <p:ph type="body" idx="1"/>
          </p:nvPr>
        </p:nvSpPr>
        <p:spPr/>
        <p:txBody>
          <a:bodyPr/>
          <a:lstStyle/>
          <a:p>
            <a:br>
              <a:rPr lang="en-US" sz="800" dirty="0"/>
            </a:br>
            <a:endParaRPr lang="en-US" sz="100" dirty="0"/>
          </a:p>
        </p:txBody>
      </p:sp>
      <p:sp>
        <p:nvSpPr>
          <p:cNvPr id="4" name="Date Placeholder 3"/>
          <p:cNvSpPr>
            <a:spLocks noGrp="1"/>
          </p:cNvSpPr>
          <p:nvPr>
            <p:ph type="dt" idx="10"/>
          </p:nvPr>
        </p:nvSpPr>
        <p:spPr/>
        <p:txBody>
          <a:bodyPr/>
          <a:lstStyle/>
          <a:p>
            <a:pPr>
              <a:defRPr/>
            </a:pPr>
            <a:fld id="{6C76099B-7E21-4F38-8EE3-156845178612}" type="datetime1">
              <a:rPr lang="en-US" smtClean="0"/>
              <a:t>10/20/26</a:t>
            </a:fld>
            <a:endParaRPr lang="en-US"/>
          </a:p>
        </p:txBody>
      </p:sp>
      <p:sp>
        <p:nvSpPr>
          <p:cNvPr id="5" name="Slide Number Placeholder 4"/>
          <p:cNvSpPr>
            <a:spLocks noGrp="1"/>
          </p:cNvSpPr>
          <p:nvPr>
            <p:ph type="sldNum" sz="quarter" idx="11"/>
          </p:nvPr>
        </p:nvSpPr>
        <p:spPr/>
        <p:txBody>
          <a:bodyPr/>
          <a:lstStyle/>
          <a:p>
            <a:pPr>
              <a:defRPr/>
            </a:pPr>
            <a:fld id="{0F562E72-9B19-4F0E-84F5-E88D4B39FE3D}" type="slidenum">
              <a:rPr lang="en-US" smtClean="0"/>
              <a:pPr>
                <a:defRPr/>
              </a:pPr>
              <a:t>1</a:t>
            </a:fld>
            <a:endParaRPr lang="en-US"/>
          </a:p>
        </p:txBody>
      </p:sp>
    </p:spTree>
    <p:extLst>
      <p:ext uri="{BB962C8B-B14F-4D97-AF65-F5344CB8AC3E}">
        <p14:creationId xmlns:p14="http://schemas.microsoft.com/office/powerpoint/2010/main" val="224544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372E1-FD3F-480B-77CA-6602746CA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3FBD6-7369-9CE8-6132-E1320F2F5B61}"/>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15041CA9-0401-4AEC-93E3-D761037AB5B5}"/>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Powdery mildew is a common fungal disease that affects cherry leaves. The goal of this project was to determine whether simple image-derived features could be used to distinguish healthy leaves from infected leaves. The intended audience includes plant scientists, horticultural researchers, and students interested in applied machine learning. To explore this question, I used 1,906 cherry leaf images from the </a:t>
            </a:r>
            <a:r>
              <a:rPr lang="en-US" sz="900" b="0" i="0" kern="1200" dirty="0" err="1">
                <a:solidFill>
                  <a:schemeClr val="tx1"/>
                </a:solidFill>
                <a:effectLst/>
                <a:latin typeface="+mn-lt"/>
                <a:ea typeface="+mn-ea"/>
                <a:cs typeface="+mn-cs"/>
              </a:rPr>
              <a:t>PlantVillage</a:t>
            </a:r>
            <a:r>
              <a:rPr lang="en-US" sz="900" b="0" i="0" kern="1200" dirty="0">
                <a:solidFill>
                  <a:schemeClr val="tx1"/>
                </a:solidFill>
                <a:effectLst/>
                <a:latin typeface="+mn-lt"/>
                <a:ea typeface="+mn-ea"/>
                <a:cs typeface="+mn-cs"/>
              </a:rPr>
              <a:t> dataset.</a:t>
            </a:r>
          </a:p>
          <a:p>
            <a:endParaRPr lang="en-US" dirty="0"/>
          </a:p>
        </p:txBody>
      </p:sp>
      <p:sp>
        <p:nvSpPr>
          <p:cNvPr id="4" name="Date Placeholder 3">
            <a:extLst>
              <a:ext uri="{FF2B5EF4-FFF2-40B4-BE49-F238E27FC236}">
                <a16:creationId xmlns:a16="http://schemas.microsoft.com/office/drawing/2014/main" id="{BEADD661-27E7-D6EC-1ACF-C0B466E229A0}"/>
              </a:ext>
            </a:extLst>
          </p:cNvPr>
          <p:cNvSpPr>
            <a:spLocks noGrp="1"/>
          </p:cNvSpPr>
          <p:nvPr>
            <p:ph type="dt" idx="10"/>
          </p:nvPr>
        </p:nvSpPr>
        <p:spPr/>
        <p:txBody>
          <a:bodyPr/>
          <a:lstStyle/>
          <a:p>
            <a:pPr>
              <a:defRPr/>
            </a:pPr>
            <a:fld id="{6C76099B-7E21-4F38-8EE3-156845178612}" type="datetime1">
              <a:rPr lang="en-US" smtClean="0"/>
              <a:t>10/20/26</a:t>
            </a:fld>
            <a:endParaRPr lang="en-US"/>
          </a:p>
        </p:txBody>
      </p:sp>
      <p:sp>
        <p:nvSpPr>
          <p:cNvPr id="5" name="Slide Number Placeholder 4">
            <a:extLst>
              <a:ext uri="{FF2B5EF4-FFF2-40B4-BE49-F238E27FC236}">
                <a16:creationId xmlns:a16="http://schemas.microsoft.com/office/drawing/2014/main" id="{868D0368-1B21-E6B1-6D65-96A47A79DF0D}"/>
              </a:ext>
            </a:extLst>
          </p:cNvPr>
          <p:cNvSpPr>
            <a:spLocks noGrp="1"/>
          </p:cNvSpPr>
          <p:nvPr>
            <p:ph type="sldNum" sz="quarter" idx="11"/>
          </p:nvPr>
        </p:nvSpPr>
        <p:spPr/>
        <p:txBody>
          <a:bodyPr/>
          <a:lstStyle/>
          <a:p>
            <a:pPr>
              <a:defRPr/>
            </a:pPr>
            <a:fld id="{0F562E72-9B19-4F0E-84F5-E88D4B39FE3D}" type="slidenum">
              <a:rPr lang="en-US" smtClean="0"/>
              <a:pPr>
                <a:defRPr/>
              </a:pPr>
              <a:t>2</a:t>
            </a:fld>
            <a:endParaRPr lang="en-US"/>
          </a:p>
        </p:txBody>
      </p:sp>
    </p:spTree>
    <p:extLst>
      <p:ext uri="{BB962C8B-B14F-4D97-AF65-F5344CB8AC3E}">
        <p14:creationId xmlns:p14="http://schemas.microsoft.com/office/powerpoint/2010/main" val="1219400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D680-E976-AF24-AE79-36B6F2FB6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955E0-EBDB-F572-9285-16DA9296F40D}"/>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47157049-E568-6F3C-CECE-F653A0393717}"/>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Instead of using deep learning, I wanted to investigate how much information could be captured using simple color and brightness features. These features transformed each image into numerical data that could be analyzed statistically and used for classification.</a:t>
            </a:r>
          </a:p>
          <a:p>
            <a:endParaRPr lang="en-US" dirty="0"/>
          </a:p>
        </p:txBody>
      </p:sp>
      <p:sp>
        <p:nvSpPr>
          <p:cNvPr id="4" name="Date Placeholder 3">
            <a:extLst>
              <a:ext uri="{FF2B5EF4-FFF2-40B4-BE49-F238E27FC236}">
                <a16:creationId xmlns:a16="http://schemas.microsoft.com/office/drawing/2014/main" id="{11F8BCAE-C590-2259-E54A-FB331F8F387B}"/>
              </a:ext>
            </a:extLst>
          </p:cNvPr>
          <p:cNvSpPr>
            <a:spLocks noGrp="1"/>
          </p:cNvSpPr>
          <p:nvPr>
            <p:ph type="dt" idx="10"/>
          </p:nvPr>
        </p:nvSpPr>
        <p:spPr/>
        <p:txBody>
          <a:bodyPr/>
          <a:lstStyle/>
          <a:p>
            <a:pPr>
              <a:defRPr/>
            </a:pPr>
            <a:fld id="{6C76099B-7E21-4F38-8EE3-156845178612}" type="datetime1">
              <a:rPr lang="en-US" smtClean="0"/>
              <a:t>10/20/26</a:t>
            </a:fld>
            <a:endParaRPr lang="en-US"/>
          </a:p>
        </p:txBody>
      </p:sp>
      <p:sp>
        <p:nvSpPr>
          <p:cNvPr id="5" name="Slide Number Placeholder 4">
            <a:extLst>
              <a:ext uri="{FF2B5EF4-FFF2-40B4-BE49-F238E27FC236}">
                <a16:creationId xmlns:a16="http://schemas.microsoft.com/office/drawing/2014/main" id="{F7F36038-97C4-0938-713D-2A204A4796C6}"/>
              </a:ext>
            </a:extLst>
          </p:cNvPr>
          <p:cNvSpPr>
            <a:spLocks noGrp="1"/>
          </p:cNvSpPr>
          <p:nvPr>
            <p:ph type="sldNum" sz="quarter" idx="11"/>
          </p:nvPr>
        </p:nvSpPr>
        <p:spPr/>
        <p:txBody>
          <a:bodyPr/>
          <a:lstStyle/>
          <a:p>
            <a:pPr>
              <a:defRPr/>
            </a:pPr>
            <a:fld id="{0F562E72-9B19-4F0E-84F5-E88D4B39FE3D}" type="slidenum">
              <a:rPr lang="en-US" smtClean="0"/>
              <a:pPr>
                <a:defRPr/>
              </a:pPr>
              <a:t>3</a:t>
            </a:fld>
            <a:endParaRPr lang="en-US"/>
          </a:p>
        </p:txBody>
      </p:sp>
    </p:spTree>
    <p:extLst>
      <p:ext uri="{BB962C8B-B14F-4D97-AF65-F5344CB8AC3E}">
        <p14:creationId xmlns:p14="http://schemas.microsoft.com/office/powerpoint/2010/main" val="2202933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267C-D680-17D7-15C0-B54771B46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918AA-F688-2FF3-0C87-167A037CA606}"/>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9A57F855-9C66-AF65-C416-527EE05B912F}"/>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Exploratory analysis suggested that healthy and diseased leaves exhibit measurable differences in both color intensity and brightness. While the groups overlap, these patterns indicated that the extracted features contained useful classification information. They are not able to be used alone to differ between the classes, but when combined, they are useful for training the models. </a:t>
            </a:r>
          </a:p>
          <a:p>
            <a:endParaRPr lang="en-US" dirty="0"/>
          </a:p>
        </p:txBody>
      </p:sp>
      <p:sp>
        <p:nvSpPr>
          <p:cNvPr id="4" name="Date Placeholder 3">
            <a:extLst>
              <a:ext uri="{FF2B5EF4-FFF2-40B4-BE49-F238E27FC236}">
                <a16:creationId xmlns:a16="http://schemas.microsoft.com/office/drawing/2014/main" id="{0755B4E3-484A-FFD0-30FB-DF6EA36544E4}"/>
              </a:ext>
            </a:extLst>
          </p:cNvPr>
          <p:cNvSpPr>
            <a:spLocks noGrp="1"/>
          </p:cNvSpPr>
          <p:nvPr>
            <p:ph type="dt" idx="10"/>
          </p:nvPr>
        </p:nvSpPr>
        <p:spPr/>
        <p:txBody>
          <a:bodyPr/>
          <a:lstStyle/>
          <a:p>
            <a:pPr>
              <a:defRPr/>
            </a:pPr>
            <a:fld id="{6C76099B-7E21-4F38-8EE3-156845178612}" type="datetime1">
              <a:rPr lang="en-US" smtClean="0"/>
              <a:t>10/20/26</a:t>
            </a:fld>
            <a:endParaRPr lang="en-US"/>
          </a:p>
        </p:txBody>
      </p:sp>
      <p:sp>
        <p:nvSpPr>
          <p:cNvPr id="5" name="Slide Number Placeholder 4">
            <a:extLst>
              <a:ext uri="{FF2B5EF4-FFF2-40B4-BE49-F238E27FC236}">
                <a16:creationId xmlns:a16="http://schemas.microsoft.com/office/drawing/2014/main" id="{E273A682-E837-FB8A-8DE6-C0874EA9D7F8}"/>
              </a:ext>
            </a:extLst>
          </p:cNvPr>
          <p:cNvSpPr>
            <a:spLocks noGrp="1"/>
          </p:cNvSpPr>
          <p:nvPr>
            <p:ph type="sldNum" sz="quarter" idx="11"/>
          </p:nvPr>
        </p:nvSpPr>
        <p:spPr/>
        <p:txBody>
          <a:bodyPr/>
          <a:lstStyle/>
          <a:p>
            <a:pPr>
              <a:defRPr/>
            </a:pPr>
            <a:fld id="{0F562E72-9B19-4F0E-84F5-E88D4B39FE3D}" type="slidenum">
              <a:rPr lang="en-US" smtClean="0"/>
              <a:pPr>
                <a:defRPr/>
              </a:pPr>
              <a:t>4</a:t>
            </a:fld>
            <a:endParaRPr lang="en-US"/>
          </a:p>
        </p:txBody>
      </p:sp>
    </p:spTree>
    <p:extLst>
      <p:ext uri="{BB962C8B-B14F-4D97-AF65-F5344CB8AC3E}">
        <p14:creationId xmlns:p14="http://schemas.microsoft.com/office/powerpoint/2010/main" val="3712528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471D0-898A-A5E3-D0E7-90C95772B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17207-7EA9-38F8-DBD3-91CAB5EA41ED}"/>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2A6C6C78-8ACE-AFF8-635C-943A6DC2C84E}"/>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I evaluated models with different levels of complexity rather than deciding on a model from the beginning. Between the three analyzed models, the SVM achieved the highest accuracy and was selected as the final model for deployment.</a:t>
            </a:r>
            <a:br>
              <a:rPr lang="en-US" dirty="0"/>
            </a:br>
            <a:endParaRPr lang="en-US" dirty="0"/>
          </a:p>
        </p:txBody>
      </p:sp>
      <p:sp>
        <p:nvSpPr>
          <p:cNvPr id="4" name="Date Placeholder 3">
            <a:extLst>
              <a:ext uri="{FF2B5EF4-FFF2-40B4-BE49-F238E27FC236}">
                <a16:creationId xmlns:a16="http://schemas.microsoft.com/office/drawing/2014/main" id="{5916B693-F5FA-BE7C-AC3F-8549DD76ECF1}"/>
              </a:ext>
            </a:extLst>
          </p:cNvPr>
          <p:cNvSpPr>
            <a:spLocks noGrp="1"/>
          </p:cNvSpPr>
          <p:nvPr>
            <p:ph type="dt" idx="10"/>
          </p:nvPr>
        </p:nvSpPr>
        <p:spPr/>
        <p:txBody>
          <a:bodyPr/>
          <a:lstStyle/>
          <a:p>
            <a:pPr>
              <a:defRPr/>
            </a:pPr>
            <a:fld id="{6C76099B-7E21-4F38-8EE3-156845178612}" type="datetime1">
              <a:rPr lang="en-US" smtClean="0"/>
              <a:t>10/21/26</a:t>
            </a:fld>
            <a:endParaRPr lang="en-US"/>
          </a:p>
        </p:txBody>
      </p:sp>
      <p:sp>
        <p:nvSpPr>
          <p:cNvPr id="5" name="Slide Number Placeholder 4">
            <a:extLst>
              <a:ext uri="{FF2B5EF4-FFF2-40B4-BE49-F238E27FC236}">
                <a16:creationId xmlns:a16="http://schemas.microsoft.com/office/drawing/2014/main" id="{9F5633A7-03E8-7889-C47F-CD8D6F285513}"/>
              </a:ext>
            </a:extLst>
          </p:cNvPr>
          <p:cNvSpPr>
            <a:spLocks noGrp="1"/>
          </p:cNvSpPr>
          <p:nvPr>
            <p:ph type="sldNum" sz="quarter" idx="11"/>
          </p:nvPr>
        </p:nvSpPr>
        <p:spPr/>
        <p:txBody>
          <a:bodyPr/>
          <a:lstStyle/>
          <a:p>
            <a:pPr>
              <a:defRPr/>
            </a:pPr>
            <a:fld id="{0F562E72-9B19-4F0E-84F5-E88D4B39FE3D}" type="slidenum">
              <a:rPr lang="en-US" smtClean="0"/>
              <a:pPr>
                <a:defRPr/>
              </a:pPr>
              <a:t>5</a:t>
            </a:fld>
            <a:endParaRPr lang="en-US"/>
          </a:p>
        </p:txBody>
      </p:sp>
    </p:spTree>
    <p:extLst>
      <p:ext uri="{BB962C8B-B14F-4D97-AF65-F5344CB8AC3E}">
        <p14:creationId xmlns:p14="http://schemas.microsoft.com/office/powerpoint/2010/main" val="2323154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B7128-33D1-C45B-B6F8-B05C3289B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2F988-BCE7-8B22-D8F6-BEDD8121CF9B}"/>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44DF9ACD-A96F-F7B1-B259-FE2F3B3176F8}"/>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The project resulted in a functioning machine learning pipeline and an interactive dashboard. Users can explore the dataset, review model performance, and upload new images for real-time disease prediction.</a:t>
            </a:r>
          </a:p>
          <a:p>
            <a:endParaRPr lang="en-US" dirty="0"/>
          </a:p>
        </p:txBody>
      </p:sp>
      <p:sp>
        <p:nvSpPr>
          <p:cNvPr id="4" name="Date Placeholder 3">
            <a:extLst>
              <a:ext uri="{FF2B5EF4-FFF2-40B4-BE49-F238E27FC236}">
                <a16:creationId xmlns:a16="http://schemas.microsoft.com/office/drawing/2014/main" id="{22E7092E-A74D-3122-BDE3-FCB452A961E3}"/>
              </a:ext>
            </a:extLst>
          </p:cNvPr>
          <p:cNvSpPr>
            <a:spLocks noGrp="1"/>
          </p:cNvSpPr>
          <p:nvPr>
            <p:ph type="dt" idx="10"/>
          </p:nvPr>
        </p:nvSpPr>
        <p:spPr/>
        <p:txBody>
          <a:bodyPr/>
          <a:lstStyle/>
          <a:p>
            <a:pPr>
              <a:defRPr/>
            </a:pPr>
            <a:fld id="{6C76099B-7E21-4F38-8EE3-156845178612}" type="datetime1">
              <a:rPr lang="en-US" smtClean="0"/>
              <a:t>10/21/26</a:t>
            </a:fld>
            <a:endParaRPr lang="en-US"/>
          </a:p>
        </p:txBody>
      </p:sp>
      <p:sp>
        <p:nvSpPr>
          <p:cNvPr id="5" name="Slide Number Placeholder 4">
            <a:extLst>
              <a:ext uri="{FF2B5EF4-FFF2-40B4-BE49-F238E27FC236}">
                <a16:creationId xmlns:a16="http://schemas.microsoft.com/office/drawing/2014/main" id="{AAC23A5C-988C-5EC7-A107-EF8DC353408C}"/>
              </a:ext>
            </a:extLst>
          </p:cNvPr>
          <p:cNvSpPr>
            <a:spLocks noGrp="1"/>
          </p:cNvSpPr>
          <p:nvPr>
            <p:ph type="sldNum" sz="quarter" idx="11"/>
          </p:nvPr>
        </p:nvSpPr>
        <p:spPr/>
        <p:txBody>
          <a:bodyPr/>
          <a:lstStyle/>
          <a:p>
            <a:pPr>
              <a:defRPr/>
            </a:pPr>
            <a:fld id="{0F562E72-9B19-4F0E-84F5-E88D4B39FE3D}" type="slidenum">
              <a:rPr lang="en-US" smtClean="0"/>
              <a:pPr>
                <a:defRPr/>
              </a:pPr>
              <a:t>6</a:t>
            </a:fld>
            <a:endParaRPr lang="en-US"/>
          </a:p>
        </p:txBody>
      </p:sp>
    </p:spTree>
    <p:extLst>
      <p:ext uri="{BB962C8B-B14F-4D97-AF65-F5344CB8AC3E}">
        <p14:creationId xmlns:p14="http://schemas.microsoft.com/office/powerpoint/2010/main" val="1094868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F6FB-6C35-3FBA-F536-6EA30E02F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50C9D-CFEA-90F3-3B0C-70C35AF4F3DD}"/>
              </a:ext>
            </a:extLst>
          </p:cNvPr>
          <p:cNvSpPr>
            <a:spLocks noGrp="1" noRot="1" noChangeAspect="1"/>
          </p:cNvSpPr>
          <p:nvPr>
            <p:ph type="sldImg"/>
          </p:nvPr>
        </p:nvSpPr>
        <p:spPr>
          <a:xfrm>
            <a:off x="420688" y="703263"/>
            <a:ext cx="6257925" cy="3521075"/>
          </a:xfrm>
        </p:spPr>
      </p:sp>
      <p:sp>
        <p:nvSpPr>
          <p:cNvPr id="3" name="Notes Placeholder 2">
            <a:extLst>
              <a:ext uri="{FF2B5EF4-FFF2-40B4-BE49-F238E27FC236}">
                <a16:creationId xmlns:a16="http://schemas.microsoft.com/office/drawing/2014/main" id="{F45EDDE8-3596-F5DE-4F8D-24F3B6F584CC}"/>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900" b="0" i="0" kern="1200" dirty="0">
                <a:solidFill>
                  <a:schemeClr val="tx1"/>
                </a:solidFill>
                <a:effectLst/>
                <a:latin typeface="+mn-lt"/>
                <a:ea typeface="+mn-ea"/>
                <a:cs typeface="+mn-cs"/>
              </a:rPr>
              <a:t>This project demonstrates a complete workflow from image processing and exploratory analysis through model development and deployment. Future improvements will focus on incorporating more advanced image features and improving model performance.</a:t>
            </a:r>
          </a:p>
          <a:p>
            <a:endParaRPr lang="en-US" dirty="0"/>
          </a:p>
        </p:txBody>
      </p:sp>
      <p:sp>
        <p:nvSpPr>
          <p:cNvPr id="4" name="Date Placeholder 3">
            <a:extLst>
              <a:ext uri="{FF2B5EF4-FFF2-40B4-BE49-F238E27FC236}">
                <a16:creationId xmlns:a16="http://schemas.microsoft.com/office/drawing/2014/main" id="{4521587A-8669-446F-F951-4E89EE968EEA}"/>
              </a:ext>
            </a:extLst>
          </p:cNvPr>
          <p:cNvSpPr>
            <a:spLocks noGrp="1"/>
          </p:cNvSpPr>
          <p:nvPr>
            <p:ph type="dt" idx="10"/>
          </p:nvPr>
        </p:nvSpPr>
        <p:spPr/>
        <p:txBody>
          <a:bodyPr/>
          <a:lstStyle/>
          <a:p>
            <a:pPr>
              <a:defRPr/>
            </a:pPr>
            <a:fld id="{6C76099B-7E21-4F38-8EE3-156845178612}" type="datetime1">
              <a:rPr lang="en-US" smtClean="0"/>
              <a:t>10/21/26</a:t>
            </a:fld>
            <a:endParaRPr lang="en-US"/>
          </a:p>
        </p:txBody>
      </p:sp>
      <p:sp>
        <p:nvSpPr>
          <p:cNvPr id="5" name="Slide Number Placeholder 4">
            <a:extLst>
              <a:ext uri="{FF2B5EF4-FFF2-40B4-BE49-F238E27FC236}">
                <a16:creationId xmlns:a16="http://schemas.microsoft.com/office/drawing/2014/main" id="{DD9721E4-4AAA-D59D-B427-A8B4020E8E89}"/>
              </a:ext>
            </a:extLst>
          </p:cNvPr>
          <p:cNvSpPr>
            <a:spLocks noGrp="1"/>
          </p:cNvSpPr>
          <p:nvPr>
            <p:ph type="sldNum" sz="quarter" idx="11"/>
          </p:nvPr>
        </p:nvSpPr>
        <p:spPr/>
        <p:txBody>
          <a:bodyPr/>
          <a:lstStyle/>
          <a:p>
            <a:pPr>
              <a:defRPr/>
            </a:pPr>
            <a:fld id="{0F562E72-9B19-4F0E-84F5-E88D4B39FE3D}" type="slidenum">
              <a:rPr lang="en-US" smtClean="0"/>
              <a:pPr>
                <a:defRPr/>
              </a:pPr>
              <a:t>7</a:t>
            </a:fld>
            <a:endParaRPr lang="en-US"/>
          </a:p>
        </p:txBody>
      </p:sp>
    </p:spTree>
    <p:extLst>
      <p:ext uri="{BB962C8B-B14F-4D97-AF65-F5344CB8AC3E}">
        <p14:creationId xmlns:p14="http://schemas.microsoft.com/office/powerpoint/2010/main" val="4073517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19727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8D737E2D-E991-494F-A708-6D8D6CA5BF10}" type="slidenum">
              <a:rPr lang="en-US" smtClean="0"/>
              <a:pPr>
                <a:defRPr/>
              </a:pPr>
              <a:t>‹#›</a:t>
            </a:fld>
            <a:endParaRPr lang="en-US" dirty="0"/>
          </a:p>
        </p:txBody>
      </p:sp>
    </p:spTree>
    <p:extLst>
      <p:ext uri="{BB962C8B-B14F-4D97-AF65-F5344CB8AC3E}">
        <p14:creationId xmlns:p14="http://schemas.microsoft.com/office/powerpoint/2010/main" val="1574704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50862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58159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21973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1311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199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1536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56634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1784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65901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36456"/>
            <a:ext cx="8229600" cy="360175"/>
          </a:xfrm>
          <a:prstGeom prst="rect">
            <a:avLst/>
          </a:prstGeom>
        </p:spPr>
        <p:txBody>
          <a:bodyPr>
            <a:normAutofit/>
          </a:bodyPr>
          <a:lstStyle>
            <a:lvl1pPr algn="l">
              <a:defRPr sz="2700" b="1" i="0" baseline="0">
                <a:solidFill>
                  <a:srgbClr val="18453B"/>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457200" y="1544752"/>
            <a:ext cx="8229600" cy="3049871"/>
          </a:xfrm>
          <a:prstGeom prst="rect">
            <a:avLst/>
          </a:prstGeom>
        </p:spPr>
        <p:txBody>
          <a:bodyPr/>
          <a:lstStyle>
            <a:lvl1pPr>
              <a:buClr>
                <a:srgbClr val="18453B"/>
              </a:buClr>
              <a:buFont typeface="Arial"/>
              <a:buChar char="•"/>
              <a:defRPr sz="2100" b="0" i="0">
                <a:solidFill>
                  <a:srgbClr val="595959"/>
                </a:solidFill>
                <a:latin typeface="Arial" panose="020B0604020202020204" pitchFamily="34" charset="0"/>
                <a:cs typeface="Arial" panose="020B0604020202020204" pitchFamily="34" charset="0"/>
              </a:defRPr>
            </a:lvl1pPr>
            <a:lvl2pPr>
              <a:buClr>
                <a:schemeClr val="tx1">
                  <a:lumMod val="75000"/>
                  <a:lumOff val="25000"/>
                </a:schemeClr>
              </a:buClr>
              <a:buSzPct val="85000"/>
              <a:buFont typeface="Arial"/>
              <a:buChar char="•"/>
              <a:defRPr sz="1800" b="0" i="0">
                <a:solidFill>
                  <a:srgbClr val="595959"/>
                </a:solidFill>
                <a:latin typeface="Arial" panose="020B0604020202020204" pitchFamily="34" charset="0"/>
                <a:cs typeface="Arial" panose="020B0604020202020204" pitchFamily="34" charset="0"/>
              </a:defRPr>
            </a:lvl2pPr>
            <a:lvl3pPr>
              <a:buClr>
                <a:schemeClr val="tx1">
                  <a:lumMod val="75000"/>
                  <a:lumOff val="25000"/>
                </a:schemeClr>
              </a:buClr>
              <a:defRPr sz="1500" b="0" i="0">
                <a:solidFill>
                  <a:schemeClr val="tx1">
                    <a:lumMod val="75000"/>
                    <a:lumOff val="25000"/>
                  </a:schemeClr>
                </a:solidFill>
                <a:latin typeface="Arial" panose="020B0604020202020204" pitchFamily="34" charset="0"/>
                <a:cs typeface="Arial" panose="020B0604020202020204" pitchFamily="34" charset="0"/>
              </a:defRPr>
            </a:lvl3pPr>
            <a:lvl4pPr>
              <a:defRPr b="0" i="0">
                <a:latin typeface="Arial" panose="020B0604020202020204" pitchFamily="34" charset="0"/>
                <a:cs typeface="Arial" panose="020B0604020202020204" pitchFamily="34" charset="0"/>
              </a:defRPr>
            </a:lvl4pPr>
            <a:lvl5pPr>
              <a:defRPr b="0" i="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505691" y="4767264"/>
            <a:ext cx="2133600" cy="273844"/>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fld id="{8D737E2D-E991-494F-A708-6D8D6CA5BF10}" type="slidenum">
              <a:rPr lang="en-US" smtClean="0"/>
              <a:pPr>
                <a:defRPr/>
              </a:pPr>
              <a:t>‹#›</a:t>
            </a:fld>
            <a:endParaRPr lang="en-US" dirty="0"/>
          </a:p>
        </p:txBody>
      </p:sp>
    </p:spTree>
    <p:extLst>
      <p:ext uri="{BB962C8B-B14F-4D97-AF65-F5344CB8AC3E}">
        <p14:creationId xmlns:p14="http://schemas.microsoft.com/office/powerpoint/2010/main" val="3145530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505691" y="4767264"/>
            <a:ext cx="2133600" cy="273844"/>
          </a:xfrm>
          <a:prstGeom prst="rect">
            <a:avLst/>
          </a:prstGeom>
        </p:spPr>
        <p:txBody>
          <a:bodyPr/>
          <a:lstStyle>
            <a:lvl1pPr>
              <a:defRPr>
                <a:latin typeface="Arial" panose="020B0604020202020204" pitchFamily="34" charset="0"/>
                <a:cs typeface="Arial" panose="020B0604020202020204" pitchFamily="34" charset="0"/>
              </a:defRPr>
            </a:lvl1pPr>
          </a:lstStyle>
          <a:p>
            <a:pPr>
              <a:defRPr/>
            </a:pPr>
            <a:fld id="{550A6CF5-3BAA-4301-9C7B-C282ED4437B2}" type="slidenum">
              <a:rPr lang="en-US" smtClean="0"/>
              <a:pPr>
                <a:defRPr/>
              </a:pPr>
              <a:t>‹#›</a:t>
            </a:fld>
            <a:endParaRPr lang="en-US" dirty="0"/>
          </a:p>
        </p:txBody>
      </p:sp>
    </p:spTree>
    <p:extLst>
      <p:ext uri="{BB962C8B-B14F-4D97-AF65-F5344CB8AC3E}">
        <p14:creationId xmlns:p14="http://schemas.microsoft.com/office/powerpoint/2010/main" val="2450857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10/20/26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
        <p:nvSpPr>
          <p:cNvPr id="7" name="Rectangle 6">
            <a:extLst>
              <a:ext uri="{FF2B5EF4-FFF2-40B4-BE49-F238E27FC236}">
                <a16:creationId xmlns:a16="http://schemas.microsoft.com/office/drawing/2014/main" id="{3DCCD745-C31A-8F56-7890-41A5F3FAA911}"/>
              </a:ext>
            </a:extLst>
          </p:cNvPr>
          <p:cNvSpPr/>
          <p:nvPr userDrawn="1"/>
        </p:nvSpPr>
        <p:spPr>
          <a:xfrm>
            <a:off x="0" y="0"/>
            <a:ext cx="9144000" cy="435576"/>
          </a:xfrm>
          <a:prstGeom prst="rect">
            <a:avLst/>
          </a:prstGeom>
          <a:solidFill>
            <a:srgbClr val="0C5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8" name="Picture 7">
            <a:extLst>
              <a:ext uri="{FF2B5EF4-FFF2-40B4-BE49-F238E27FC236}">
                <a16:creationId xmlns:a16="http://schemas.microsoft.com/office/drawing/2014/main" id="{5B80F312-9685-6800-2210-C7FB3C8AA421}"/>
              </a:ext>
            </a:extLst>
          </p:cNvPr>
          <p:cNvPicPr>
            <a:picLocks noChangeAspect="1"/>
          </p:cNvPicPr>
          <p:nvPr userDrawn="1"/>
        </p:nvPicPr>
        <p:blipFill>
          <a:blip r:embed="rId15"/>
          <a:stretch>
            <a:fillRect/>
          </a:stretch>
        </p:blipFill>
        <p:spPr>
          <a:xfrm>
            <a:off x="7322949" y="22579"/>
            <a:ext cx="1631194" cy="382626"/>
          </a:xfrm>
          <a:prstGeom prst="rect">
            <a:avLst/>
          </a:prstGeom>
        </p:spPr>
      </p:pic>
    </p:spTree>
    <p:extLst>
      <p:ext uri="{BB962C8B-B14F-4D97-AF65-F5344CB8AC3E}">
        <p14:creationId xmlns:p14="http://schemas.microsoft.com/office/powerpoint/2010/main" val="334498520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25" r:id="rId12"/>
    <p:sldLayoutId id="2147483749"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FF3C-BC46-4846-977E-ABA16D33CC94}"/>
              </a:ext>
            </a:extLst>
          </p:cNvPr>
          <p:cNvSpPr>
            <a:spLocks noGrp="1"/>
          </p:cNvSpPr>
          <p:nvPr>
            <p:ph type="ctrTitle"/>
          </p:nvPr>
        </p:nvSpPr>
        <p:spPr>
          <a:prstGeom prst="rect">
            <a:avLst/>
          </a:prstGeom>
        </p:spPr>
        <p:txBody>
          <a:bodyP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r>
              <a:rPr lang="en-US" dirty="0"/>
              <a:t>CMSE 830: Midterm Project Presentation</a:t>
            </a:r>
            <a:br>
              <a:rPr lang="en-US" dirty="0"/>
            </a:br>
            <a:r>
              <a:rPr lang="en-US" dirty="0"/>
              <a:t>Cherry Leaf Powdery Mildew Detection Using Machine Learning</a:t>
            </a:r>
          </a:p>
        </p:txBody>
      </p:sp>
      <p:sp>
        <p:nvSpPr>
          <p:cNvPr id="4" name="Subtitle 2">
            <a:extLst>
              <a:ext uri="{FF2B5EF4-FFF2-40B4-BE49-F238E27FC236}">
                <a16:creationId xmlns:a16="http://schemas.microsoft.com/office/drawing/2014/main" id="{EC2A6026-442D-D32F-719E-2A51C677FA1B}"/>
              </a:ext>
            </a:extLst>
          </p:cNvPr>
          <p:cNvSpPr>
            <a:spLocks noGrp="1"/>
          </p:cNvSpPr>
          <p:nvPr>
            <p:ph type="subTitle" idx="1"/>
          </p:nvPr>
        </p:nvSpPr>
        <p:spPr>
          <a:xfrm>
            <a:off x="1143000" y="2877374"/>
            <a:ext cx="6858000" cy="1241822"/>
          </a:xfrm>
          <a:prstGeom prst="rect">
            <a:avLst/>
          </a:prstGeom>
        </p:spPr>
        <p:txBody>
          <a:bodyPr anchor="t">
            <a:normAutofit/>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Jazlyn Salazar</a:t>
            </a:r>
          </a:p>
          <a:p>
            <a:r>
              <a:rPr lang="en-US" dirty="0"/>
              <a:t>Michigan State University</a:t>
            </a:r>
          </a:p>
          <a:p>
            <a:r>
              <a:rPr lang="en-US" dirty="0"/>
              <a:t>October 22, 2026</a:t>
            </a:r>
          </a:p>
        </p:txBody>
      </p:sp>
    </p:spTree>
    <p:extLst>
      <p:ext uri="{BB962C8B-B14F-4D97-AF65-F5344CB8AC3E}">
        <p14:creationId xmlns:p14="http://schemas.microsoft.com/office/powerpoint/2010/main" val="325678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90E7-F2C9-152F-2038-FDDE2E165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6C3F4-087F-241A-C989-8DD9A0685E95}"/>
              </a:ext>
            </a:extLst>
          </p:cNvPr>
          <p:cNvSpPr>
            <a:spLocks noGrp="1"/>
          </p:cNvSpPr>
          <p:nvPr>
            <p:ph type="title"/>
          </p:nvPr>
        </p:nvSpPr>
        <p:spPr>
          <a:xfrm>
            <a:off x="224204" y="379353"/>
            <a:ext cx="7886700" cy="994172"/>
          </a:xfrm>
        </p:spPr>
        <p:txBody>
          <a:bodyPr anchor="ct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dirty="0"/>
              <a:t>Motivation and Problem</a:t>
            </a:r>
          </a:p>
        </p:txBody>
      </p:sp>
      <p:sp>
        <p:nvSpPr>
          <p:cNvPr id="4" name="Subtitle 2">
            <a:extLst>
              <a:ext uri="{FF2B5EF4-FFF2-40B4-BE49-F238E27FC236}">
                <a16:creationId xmlns:a16="http://schemas.microsoft.com/office/drawing/2014/main" id="{387515F6-7A6A-009B-A10C-4603A3546749}"/>
              </a:ext>
            </a:extLst>
          </p:cNvPr>
          <p:cNvSpPr>
            <a:spLocks noGrp="1"/>
          </p:cNvSpPr>
          <p:nvPr>
            <p:ph sz="half" idx="2"/>
          </p:nvPr>
        </p:nvSpPr>
        <p:spPr>
          <a:xfrm>
            <a:off x="201710" y="1373526"/>
            <a:ext cx="4347796" cy="2829198"/>
          </a:xfrm>
        </p:spPr>
        <p:txBody>
          <a:bodyPr>
            <a:normAutofit/>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lgn="l"/>
            <a:r>
              <a:rPr lang="en-US" b="1" dirty="0"/>
              <a:t>Goal</a:t>
            </a:r>
            <a:r>
              <a:rPr lang="en-US" dirty="0"/>
              <a:t>: Detect powdery mildew in cherry leaves using image-derived features and machine learning</a:t>
            </a:r>
          </a:p>
          <a:p>
            <a:pPr algn="l"/>
            <a:r>
              <a:rPr lang="en-US" b="1" dirty="0"/>
              <a:t>Dataset: </a:t>
            </a:r>
            <a:r>
              <a:rPr lang="en-US" dirty="0" err="1"/>
              <a:t>PlantVillage</a:t>
            </a:r>
            <a:r>
              <a:rPr lang="en-US" dirty="0"/>
              <a:t> Cherry Leaf Dataset</a:t>
            </a:r>
          </a:p>
          <a:p>
            <a:pPr marL="285750" indent="-285750" algn="l">
              <a:buFont typeface="Arial" panose="020B0604020202020204" pitchFamily="34" charset="0"/>
              <a:buChar char="•"/>
            </a:pPr>
            <a:r>
              <a:rPr lang="en-US" dirty="0"/>
              <a:t>1,906 images</a:t>
            </a:r>
          </a:p>
          <a:p>
            <a:pPr marL="285750" indent="-285750" algn="l">
              <a:buFont typeface="Arial" panose="020B0604020202020204" pitchFamily="34" charset="0"/>
              <a:buChar char="•"/>
            </a:pPr>
            <a:r>
              <a:rPr lang="en-US" dirty="0"/>
              <a:t>2 classes: Healthy and Powdery Mildew</a:t>
            </a:r>
          </a:p>
          <a:p>
            <a:pPr algn="l"/>
            <a:r>
              <a:rPr lang="en-US" b="1" dirty="0"/>
              <a:t>Audience</a:t>
            </a:r>
            <a:r>
              <a:rPr lang="en-US" dirty="0"/>
              <a:t>: Researchers, educators, plant pathologists, students interested in plant health monitoring</a:t>
            </a:r>
          </a:p>
        </p:txBody>
      </p:sp>
      <p:pic>
        <p:nvPicPr>
          <p:cNvPr id="5" name="Picture 4" descr="A close-up of a leaf&#10;&#10;AI-generated content may be incorrect.">
            <a:extLst>
              <a:ext uri="{FF2B5EF4-FFF2-40B4-BE49-F238E27FC236}">
                <a16:creationId xmlns:a16="http://schemas.microsoft.com/office/drawing/2014/main" id="{6E024C8C-AD76-C3A2-1BEE-7D1CAFEB2686}"/>
              </a:ext>
            </a:extLst>
          </p:cNvPr>
          <p:cNvPicPr>
            <a:picLocks noChangeAspect="1"/>
          </p:cNvPicPr>
          <p:nvPr/>
        </p:nvPicPr>
        <p:blipFill>
          <a:blip r:embed="rId3"/>
          <a:stretch>
            <a:fillRect/>
          </a:stretch>
        </p:blipFill>
        <p:spPr>
          <a:xfrm>
            <a:off x="4658555" y="1540852"/>
            <a:ext cx="2061796" cy="2061796"/>
          </a:xfrm>
          <a:prstGeom prst="rect">
            <a:avLst/>
          </a:prstGeom>
        </p:spPr>
      </p:pic>
      <p:pic>
        <p:nvPicPr>
          <p:cNvPr id="7" name="Picture 6" descr="A close-up of a leaf&#10;&#10;AI-generated content may be incorrect.">
            <a:extLst>
              <a:ext uri="{FF2B5EF4-FFF2-40B4-BE49-F238E27FC236}">
                <a16:creationId xmlns:a16="http://schemas.microsoft.com/office/drawing/2014/main" id="{49174978-C4CE-504D-92F2-B3DB5AB96040}"/>
              </a:ext>
            </a:extLst>
          </p:cNvPr>
          <p:cNvPicPr>
            <a:picLocks noChangeAspect="1"/>
          </p:cNvPicPr>
          <p:nvPr/>
        </p:nvPicPr>
        <p:blipFill>
          <a:blip r:embed="rId4"/>
          <a:stretch>
            <a:fillRect/>
          </a:stretch>
        </p:blipFill>
        <p:spPr>
          <a:xfrm>
            <a:off x="6901536" y="1540852"/>
            <a:ext cx="2061796" cy="2061796"/>
          </a:xfrm>
          <a:prstGeom prst="rect">
            <a:avLst/>
          </a:prstGeom>
        </p:spPr>
      </p:pic>
      <p:sp>
        <p:nvSpPr>
          <p:cNvPr id="8" name="TextBox 7">
            <a:extLst>
              <a:ext uri="{FF2B5EF4-FFF2-40B4-BE49-F238E27FC236}">
                <a16:creationId xmlns:a16="http://schemas.microsoft.com/office/drawing/2014/main" id="{1AD72269-2D15-B5CF-87A3-3CD98059E4AF}"/>
              </a:ext>
            </a:extLst>
          </p:cNvPr>
          <p:cNvSpPr txBox="1"/>
          <p:nvPr/>
        </p:nvSpPr>
        <p:spPr>
          <a:xfrm>
            <a:off x="4876653" y="3602648"/>
            <a:ext cx="1625600" cy="276999"/>
          </a:xfrm>
          <a:prstGeom prst="rect">
            <a:avLst/>
          </a:prstGeom>
          <a:noFill/>
        </p:spPr>
        <p:txBody>
          <a:bodyPr wrap="square" rtlCol="0">
            <a:spAutoFit/>
          </a:bodyPr>
          <a:lstStyle/>
          <a:p>
            <a:pPr algn="ctr"/>
            <a:r>
              <a:rPr lang="en-US" sz="1200" dirty="0">
                <a:solidFill>
                  <a:schemeClr val="tx1">
                    <a:lumMod val="65000"/>
                    <a:lumOff val="35000"/>
                  </a:schemeClr>
                </a:solidFill>
                <a:latin typeface="Times New Roman" panose="02020603050405020304" pitchFamily="18" charset="0"/>
                <a:cs typeface="Times New Roman" panose="02020603050405020304" pitchFamily="18" charset="0"/>
              </a:rPr>
              <a:t>Healthy cherry leaf</a:t>
            </a:r>
          </a:p>
        </p:txBody>
      </p:sp>
      <p:sp>
        <p:nvSpPr>
          <p:cNvPr id="9" name="TextBox 8">
            <a:extLst>
              <a:ext uri="{FF2B5EF4-FFF2-40B4-BE49-F238E27FC236}">
                <a16:creationId xmlns:a16="http://schemas.microsoft.com/office/drawing/2014/main" id="{9167CDC7-9B3A-E4C2-3EF9-8F5CC8434F75}"/>
              </a:ext>
            </a:extLst>
          </p:cNvPr>
          <p:cNvSpPr txBox="1"/>
          <p:nvPr/>
        </p:nvSpPr>
        <p:spPr>
          <a:xfrm>
            <a:off x="6901536" y="3605362"/>
            <a:ext cx="2018260" cy="461665"/>
          </a:xfrm>
          <a:prstGeom prst="rect">
            <a:avLst/>
          </a:prstGeom>
          <a:noFill/>
        </p:spPr>
        <p:txBody>
          <a:bodyPr wrap="square" rtlCol="0">
            <a:spAutoFit/>
          </a:bodyPr>
          <a:lstStyle/>
          <a:p>
            <a:pPr algn="ctr"/>
            <a:r>
              <a:rPr lang="en-US" sz="1200" dirty="0">
                <a:solidFill>
                  <a:schemeClr val="tx1">
                    <a:lumMod val="65000"/>
                    <a:lumOff val="35000"/>
                  </a:schemeClr>
                </a:solidFill>
                <a:latin typeface="Times New Roman" panose="02020603050405020304" pitchFamily="18" charset="0"/>
                <a:cs typeface="Times New Roman" panose="02020603050405020304" pitchFamily="18" charset="0"/>
              </a:rPr>
              <a:t>Powdery mildew infected cherry leaf</a:t>
            </a:r>
          </a:p>
        </p:txBody>
      </p:sp>
    </p:spTree>
    <p:extLst>
      <p:ext uri="{BB962C8B-B14F-4D97-AF65-F5344CB8AC3E}">
        <p14:creationId xmlns:p14="http://schemas.microsoft.com/office/powerpoint/2010/main" val="192590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01186-609B-033C-84A3-F4E0FFFBA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6A7CD-387F-E2C2-7AC1-214B35E1C6DC}"/>
              </a:ext>
            </a:extLst>
          </p:cNvPr>
          <p:cNvSpPr>
            <a:spLocks noGrp="1"/>
          </p:cNvSpPr>
          <p:nvPr>
            <p:ph type="title"/>
          </p:nvPr>
        </p:nvSpPr>
        <p:spPr>
          <a:xfrm>
            <a:off x="123092" y="375046"/>
            <a:ext cx="7886700" cy="994172"/>
          </a:xfrm>
        </p:spPr>
        <p:txBody>
          <a:bodyPr anchor="ct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dirty="0">
                <a:solidFill>
                  <a:srgbClr val="064339"/>
                </a:solidFill>
              </a:rPr>
              <a:t>Turning Images Into Data</a:t>
            </a:r>
          </a:p>
        </p:txBody>
      </p:sp>
      <p:sp>
        <p:nvSpPr>
          <p:cNvPr id="4" name="Subtitle 2">
            <a:extLst>
              <a:ext uri="{FF2B5EF4-FFF2-40B4-BE49-F238E27FC236}">
                <a16:creationId xmlns:a16="http://schemas.microsoft.com/office/drawing/2014/main" id="{F4412D70-1DCF-0F69-0CD3-9D9D0D6E6AD5}"/>
              </a:ext>
            </a:extLst>
          </p:cNvPr>
          <p:cNvSpPr>
            <a:spLocks noGrp="1"/>
          </p:cNvSpPr>
          <p:nvPr>
            <p:ph sz="half" idx="1"/>
          </p:nvPr>
        </p:nvSpPr>
        <p:spPr>
          <a:xfrm>
            <a:off x="123092" y="1140618"/>
            <a:ext cx="4785792" cy="3774282"/>
          </a:xfrm>
        </p:spPr>
        <p:txBody>
          <a:bodyPr>
            <a:normAutofit fontScale="92500" lnSpcReduction="10000"/>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lgn="l"/>
            <a:r>
              <a:rPr lang="en-US" u="sng" dirty="0"/>
              <a:t>Challenge</a:t>
            </a:r>
            <a:r>
              <a:rPr lang="en-US" dirty="0"/>
              <a:t>: Machine learning models cannot directly analyze image files</a:t>
            </a:r>
          </a:p>
          <a:p>
            <a:pPr algn="l"/>
            <a:r>
              <a:rPr lang="en-US" u="sng" dirty="0"/>
              <a:t>Extracted Features:</a:t>
            </a:r>
          </a:p>
          <a:p>
            <a:pPr marL="285750" indent="-285750" algn="l">
              <a:buFont typeface="Arial" panose="020B0604020202020204" pitchFamily="34" charset="0"/>
              <a:buChar char="•"/>
            </a:pPr>
            <a:r>
              <a:rPr lang="en-US" dirty="0"/>
              <a:t>Average Red </a:t>
            </a:r>
          </a:p>
          <a:p>
            <a:pPr marL="285750" indent="-285750" algn="l">
              <a:buFont typeface="Arial" panose="020B0604020202020204" pitchFamily="34" charset="0"/>
              <a:buChar char="•"/>
            </a:pPr>
            <a:r>
              <a:rPr lang="en-US" dirty="0"/>
              <a:t>Average Green </a:t>
            </a:r>
          </a:p>
          <a:p>
            <a:pPr marL="285750" indent="-285750" algn="l">
              <a:buFont typeface="Arial" panose="020B0604020202020204" pitchFamily="34" charset="0"/>
              <a:buChar char="•"/>
            </a:pPr>
            <a:r>
              <a:rPr lang="en-US" dirty="0"/>
              <a:t>Average Blue </a:t>
            </a:r>
          </a:p>
          <a:p>
            <a:pPr marL="285750" indent="-285750" algn="l">
              <a:buFont typeface="Arial" panose="020B0604020202020204" pitchFamily="34" charset="0"/>
              <a:buChar char="•"/>
            </a:pPr>
            <a:r>
              <a:rPr lang="en-US" dirty="0"/>
              <a:t>Brightness</a:t>
            </a:r>
          </a:p>
          <a:p>
            <a:pPr algn="l"/>
            <a:r>
              <a:rPr lang="en-US" u="sng" dirty="0"/>
              <a:t>Why These Features:</a:t>
            </a:r>
          </a:p>
          <a:p>
            <a:pPr marL="285750" indent="-285750" algn="l">
              <a:buFont typeface="Arial" panose="020B0604020202020204" pitchFamily="34" charset="0"/>
              <a:buChar char="•"/>
            </a:pPr>
            <a:r>
              <a:rPr lang="en-US" dirty="0"/>
              <a:t>Quantify leaf color characteristics</a:t>
            </a:r>
          </a:p>
          <a:p>
            <a:pPr marL="285750" indent="-285750" algn="l">
              <a:buFont typeface="Arial" panose="020B0604020202020204" pitchFamily="34" charset="0"/>
              <a:buChar char="•"/>
            </a:pPr>
            <a:r>
              <a:rPr lang="en-US" dirty="0"/>
              <a:t>Easy to calculate</a:t>
            </a:r>
          </a:p>
          <a:p>
            <a:pPr marL="285750" indent="-285750" algn="l">
              <a:buFont typeface="Arial" panose="020B0604020202020204" pitchFamily="34" charset="0"/>
              <a:buChar char="•"/>
            </a:pPr>
            <a:r>
              <a:rPr lang="en-US" dirty="0"/>
              <a:t>Interpretable</a:t>
            </a:r>
          </a:p>
          <a:p>
            <a:pPr marL="285750" indent="-285750" algn="l">
              <a:buFont typeface="Arial" panose="020B0604020202020204" pitchFamily="34" charset="0"/>
              <a:buChar char="•"/>
            </a:pPr>
            <a:r>
              <a:rPr lang="en-US" dirty="0"/>
              <a:t>Suitable for multiple machine learning algorithms</a:t>
            </a:r>
          </a:p>
        </p:txBody>
      </p:sp>
      <p:graphicFrame>
        <p:nvGraphicFramePr>
          <p:cNvPr id="6" name="Diagram 5">
            <a:extLst>
              <a:ext uri="{FF2B5EF4-FFF2-40B4-BE49-F238E27FC236}">
                <a16:creationId xmlns:a16="http://schemas.microsoft.com/office/drawing/2014/main" id="{4B98D608-A989-B112-F8E7-0A88CA7ACE7B}"/>
              </a:ext>
            </a:extLst>
          </p:cNvPr>
          <p:cNvGraphicFramePr/>
          <p:nvPr>
            <p:extLst>
              <p:ext uri="{D42A27DB-BD31-4B8C-83A1-F6EECF244321}">
                <p14:modId xmlns:p14="http://schemas.microsoft.com/office/powerpoint/2010/main" val="299262803"/>
              </p:ext>
            </p:extLst>
          </p:nvPr>
        </p:nvGraphicFramePr>
        <p:xfrm>
          <a:off x="5129562" y="1369219"/>
          <a:ext cx="3655850" cy="33992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F7FEFB7-A71C-7943-8AB1-BAF26C620254}"/>
              </a:ext>
            </a:extLst>
          </p:cNvPr>
          <p:cNvSpPr txBox="1"/>
          <p:nvPr/>
        </p:nvSpPr>
        <p:spPr>
          <a:xfrm>
            <a:off x="5332762" y="850116"/>
            <a:ext cx="3251974" cy="369332"/>
          </a:xfrm>
          <a:prstGeom prst="rect">
            <a:avLst/>
          </a:prstGeom>
          <a:noFill/>
        </p:spPr>
        <p:txBody>
          <a:bodyPr wrap="square" rtlCol="0">
            <a:spAutoFit/>
          </a:bodyPr>
          <a:lstStyle/>
          <a:p>
            <a:pPr algn="ct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Workflow:</a:t>
            </a:r>
          </a:p>
        </p:txBody>
      </p:sp>
    </p:spTree>
    <p:extLst>
      <p:ext uri="{BB962C8B-B14F-4D97-AF65-F5344CB8AC3E}">
        <p14:creationId xmlns:p14="http://schemas.microsoft.com/office/powerpoint/2010/main" val="4276779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AC50-DE70-BDF4-0920-C093CC260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A379D-C1EF-EC70-4AD2-4B4B2808511A}"/>
              </a:ext>
            </a:extLst>
          </p:cNvPr>
          <p:cNvSpPr>
            <a:spLocks noGrp="1"/>
          </p:cNvSpPr>
          <p:nvPr>
            <p:ph type="ctrTitle"/>
          </p:nvPr>
        </p:nvSpPr>
        <p:spPr>
          <a:xfrm>
            <a:off x="165817" y="502012"/>
            <a:ext cx="8495975" cy="596149"/>
          </a:xfrm>
          <a:prstGeom prst="rect">
            <a:avLst/>
          </a:prstGeom>
        </p:spPr>
        <p:txBody>
          <a:bodyP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dirty="0"/>
              <a:t>Exploratory Data Analysis</a:t>
            </a:r>
          </a:p>
        </p:txBody>
      </p:sp>
      <p:sp>
        <p:nvSpPr>
          <p:cNvPr id="4" name="Subtitle 2">
            <a:extLst>
              <a:ext uri="{FF2B5EF4-FFF2-40B4-BE49-F238E27FC236}">
                <a16:creationId xmlns:a16="http://schemas.microsoft.com/office/drawing/2014/main" id="{9EE277F8-4FD7-5CD0-6B8A-5FDCBF64055A}"/>
              </a:ext>
            </a:extLst>
          </p:cNvPr>
          <p:cNvSpPr>
            <a:spLocks noGrp="1"/>
          </p:cNvSpPr>
          <p:nvPr>
            <p:ph type="subTitle" idx="1"/>
          </p:nvPr>
        </p:nvSpPr>
        <p:spPr>
          <a:xfrm>
            <a:off x="165817" y="1094805"/>
            <a:ext cx="5682371" cy="3809515"/>
          </a:xfrm>
          <a:prstGeom prst="rect">
            <a:avLst/>
          </a:prstGeom>
        </p:spPr>
        <p:txBody>
          <a:bodyPr anchor="t">
            <a:normAutofit/>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lgn="l"/>
            <a:r>
              <a:rPr lang="en-US" sz="2000" b="1" dirty="0"/>
              <a:t>What Patterns Exist in the Data?</a:t>
            </a:r>
          </a:p>
          <a:p>
            <a:pPr algn="l"/>
            <a:r>
              <a:rPr lang="en-US" sz="2000" u="sng" dirty="0"/>
              <a:t>Questions Explored:</a:t>
            </a:r>
          </a:p>
          <a:p>
            <a:pPr marL="342900" indent="-342900" algn="l">
              <a:buFont typeface="Arial" panose="020B0604020202020204" pitchFamily="34" charset="0"/>
              <a:buChar char="•"/>
            </a:pPr>
            <a:r>
              <a:rPr lang="en-US" sz="2000" dirty="0"/>
              <a:t>Do healthy and infected leaves differ visually?</a:t>
            </a:r>
          </a:p>
          <a:p>
            <a:pPr marL="342900" indent="-342900" algn="l">
              <a:buFont typeface="Arial" panose="020B0604020202020204" pitchFamily="34" charset="0"/>
              <a:buChar char="•"/>
            </a:pPr>
            <a:r>
              <a:rPr lang="en-US" sz="2000" dirty="0"/>
              <a:t>Are color features useful predictors?</a:t>
            </a:r>
          </a:p>
          <a:p>
            <a:pPr marL="342900" indent="-342900" algn="l">
              <a:buFont typeface="Arial" panose="020B0604020202020204" pitchFamily="34" charset="0"/>
              <a:buChar char="•"/>
            </a:pPr>
            <a:r>
              <a:rPr lang="en-US" sz="2000" dirty="0"/>
              <a:t>Are some features strongly related?</a:t>
            </a:r>
          </a:p>
          <a:p>
            <a:pPr algn="l"/>
            <a:r>
              <a:rPr lang="en-US" sz="2000" u="sng" dirty="0"/>
              <a:t>Key Findings:</a:t>
            </a:r>
          </a:p>
          <a:p>
            <a:pPr marL="342900" indent="-342900" algn="l">
              <a:buFont typeface="Arial" panose="020B0604020202020204" pitchFamily="34" charset="0"/>
              <a:buChar char="•"/>
            </a:pPr>
            <a:r>
              <a:rPr lang="en-US" sz="2000" dirty="0"/>
              <a:t>Brightness differed between classes</a:t>
            </a:r>
          </a:p>
          <a:p>
            <a:pPr marL="342900" indent="-342900" algn="l">
              <a:buFont typeface="Arial" panose="020B0604020202020204" pitchFamily="34" charset="0"/>
              <a:buChar char="•"/>
            </a:pPr>
            <a:r>
              <a:rPr lang="en-US" sz="2000" dirty="0"/>
              <a:t>RGB values differed between classes</a:t>
            </a:r>
          </a:p>
          <a:p>
            <a:pPr marL="342900" indent="-342900" algn="l">
              <a:buFont typeface="Arial" panose="020B0604020202020204" pitchFamily="34" charset="0"/>
              <a:buChar char="•"/>
            </a:pPr>
            <a:r>
              <a:rPr lang="en-US" sz="2000" dirty="0"/>
              <a:t>Correlation analysis revealed relationships among features</a:t>
            </a:r>
          </a:p>
        </p:txBody>
      </p:sp>
      <p:pic>
        <p:nvPicPr>
          <p:cNvPr id="10" name="Picture 9" descr="A screenshot of a graph&#10;&#10;AI-generated content may be incorrect.">
            <a:extLst>
              <a:ext uri="{FF2B5EF4-FFF2-40B4-BE49-F238E27FC236}">
                <a16:creationId xmlns:a16="http://schemas.microsoft.com/office/drawing/2014/main" id="{47B8F5F5-4A82-9D83-3D02-5458293E8ABF}"/>
              </a:ext>
            </a:extLst>
          </p:cNvPr>
          <p:cNvPicPr>
            <a:picLocks noChangeAspect="1"/>
          </p:cNvPicPr>
          <p:nvPr/>
        </p:nvPicPr>
        <p:blipFill>
          <a:blip r:embed="rId3"/>
          <a:stretch>
            <a:fillRect/>
          </a:stretch>
        </p:blipFill>
        <p:spPr>
          <a:xfrm>
            <a:off x="5978900" y="498656"/>
            <a:ext cx="2943922" cy="4560483"/>
          </a:xfrm>
          <a:prstGeom prst="rect">
            <a:avLst/>
          </a:prstGeom>
        </p:spPr>
      </p:pic>
    </p:spTree>
    <p:extLst>
      <p:ext uri="{BB962C8B-B14F-4D97-AF65-F5344CB8AC3E}">
        <p14:creationId xmlns:p14="http://schemas.microsoft.com/office/powerpoint/2010/main" val="506024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AE2CE-6DA2-D4FB-AAB8-301AC9BA6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417C8-C333-977C-77AE-16A1900A48AC}"/>
              </a:ext>
            </a:extLst>
          </p:cNvPr>
          <p:cNvSpPr>
            <a:spLocks noGrp="1"/>
          </p:cNvSpPr>
          <p:nvPr>
            <p:ph type="ctrTitle"/>
          </p:nvPr>
        </p:nvSpPr>
        <p:spPr>
          <a:xfrm>
            <a:off x="296332" y="522411"/>
            <a:ext cx="8695267" cy="596149"/>
          </a:xfrm>
          <a:prstGeom prst="rect">
            <a:avLst/>
          </a:prstGeom>
        </p:spPr>
        <p:txBody>
          <a:bodyPr>
            <a:no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sz="2500" dirty="0"/>
              <a:t>Model Selection and Comparison</a:t>
            </a:r>
          </a:p>
        </p:txBody>
      </p:sp>
      <p:sp>
        <p:nvSpPr>
          <p:cNvPr id="4" name="Subtitle 2">
            <a:extLst>
              <a:ext uri="{FF2B5EF4-FFF2-40B4-BE49-F238E27FC236}">
                <a16:creationId xmlns:a16="http://schemas.microsoft.com/office/drawing/2014/main" id="{47349480-0BFE-D2F2-A57C-832F4E02DD5A}"/>
              </a:ext>
            </a:extLst>
          </p:cNvPr>
          <p:cNvSpPr>
            <a:spLocks noGrp="1"/>
          </p:cNvSpPr>
          <p:nvPr>
            <p:ph type="subTitle" idx="1"/>
          </p:nvPr>
        </p:nvSpPr>
        <p:spPr>
          <a:xfrm>
            <a:off x="296333" y="1118560"/>
            <a:ext cx="4275667" cy="3822700"/>
          </a:xfrm>
          <a:prstGeom prst="rect">
            <a:avLst/>
          </a:prstGeom>
        </p:spPr>
        <p:txBody>
          <a:bodyPr anchor="t">
            <a:normAutofit/>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lgn="l"/>
            <a:r>
              <a:rPr lang="en-US" b="1" dirty="0"/>
              <a:t>Logistic Regression</a:t>
            </a:r>
          </a:p>
          <a:p>
            <a:pPr marL="285750" indent="-285750" algn="l">
              <a:buFont typeface="Arial" panose="020B0604020202020204" pitchFamily="34" charset="0"/>
              <a:buChar char="•"/>
            </a:pPr>
            <a:r>
              <a:rPr lang="en-US" dirty="0"/>
              <a:t>Simple baseline classifier</a:t>
            </a:r>
          </a:p>
          <a:p>
            <a:pPr marL="285750" indent="-285750" algn="l">
              <a:buFont typeface="Arial" panose="020B0604020202020204" pitchFamily="34" charset="0"/>
              <a:buChar char="•"/>
            </a:pPr>
            <a:r>
              <a:rPr lang="en-US" dirty="0"/>
              <a:t>Fast and interpretable</a:t>
            </a:r>
          </a:p>
          <a:p>
            <a:pPr algn="l"/>
            <a:r>
              <a:rPr lang="en-US" b="1" dirty="0"/>
              <a:t>Random Forest</a:t>
            </a:r>
          </a:p>
          <a:p>
            <a:pPr marL="285750" indent="-285750" algn="l">
              <a:buFont typeface="Arial" panose="020B0604020202020204" pitchFamily="34" charset="0"/>
              <a:buChar char="•"/>
            </a:pPr>
            <a:r>
              <a:rPr lang="en-US" dirty="0"/>
              <a:t>Captures nonlinear relationships</a:t>
            </a:r>
          </a:p>
          <a:p>
            <a:pPr marL="285750" indent="-285750" algn="l">
              <a:buFont typeface="Arial" panose="020B0604020202020204" pitchFamily="34" charset="0"/>
              <a:buChar char="•"/>
            </a:pPr>
            <a:r>
              <a:rPr lang="en-US" dirty="0"/>
              <a:t>Handles interactions among features</a:t>
            </a:r>
          </a:p>
          <a:p>
            <a:pPr algn="l"/>
            <a:r>
              <a:rPr lang="en-US" b="1" dirty="0"/>
              <a:t>Support Vector Machine (SVM)</a:t>
            </a:r>
          </a:p>
          <a:p>
            <a:pPr marL="285750" indent="-285750" algn="l">
              <a:buFont typeface="Arial" panose="020B0604020202020204" pitchFamily="34" charset="0"/>
              <a:buChar char="•"/>
            </a:pPr>
            <a:r>
              <a:rPr lang="en-US" dirty="0"/>
              <a:t>Effective for classification</a:t>
            </a:r>
          </a:p>
          <a:p>
            <a:pPr marL="285750" indent="-285750" algn="l">
              <a:buFont typeface="Arial" panose="020B0604020202020204" pitchFamily="34" charset="0"/>
              <a:buChar char="•"/>
            </a:pPr>
            <a:r>
              <a:rPr lang="en-US" dirty="0"/>
              <a:t>Performs well with smaller feature sets</a:t>
            </a:r>
          </a:p>
          <a:p>
            <a:pPr marL="285750" indent="-285750" algn="l">
              <a:buFont typeface="Arial" panose="020B0604020202020204" pitchFamily="34" charset="0"/>
              <a:buChar char="•"/>
            </a:pPr>
            <a:r>
              <a:rPr lang="en-US" dirty="0"/>
              <a:t>Handles complex decision boundaries</a:t>
            </a:r>
          </a:p>
        </p:txBody>
      </p:sp>
      <p:graphicFrame>
        <p:nvGraphicFramePr>
          <p:cNvPr id="6" name="Table 5">
            <a:extLst>
              <a:ext uri="{FF2B5EF4-FFF2-40B4-BE49-F238E27FC236}">
                <a16:creationId xmlns:a16="http://schemas.microsoft.com/office/drawing/2014/main" id="{27E8F9BD-75A0-659D-A358-576397FB3E55}"/>
              </a:ext>
            </a:extLst>
          </p:cNvPr>
          <p:cNvGraphicFramePr>
            <a:graphicFrameLocks noGrp="1"/>
          </p:cNvGraphicFramePr>
          <p:nvPr>
            <p:extLst>
              <p:ext uri="{D42A27DB-BD31-4B8C-83A1-F6EECF244321}">
                <p14:modId xmlns:p14="http://schemas.microsoft.com/office/powerpoint/2010/main" val="3678393177"/>
              </p:ext>
            </p:extLst>
          </p:nvPr>
        </p:nvGraphicFramePr>
        <p:xfrm>
          <a:off x="4231757" y="1583180"/>
          <a:ext cx="4615910" cy="1977140"/>
        </p:xfrm>
        <a:graphic>
          <a:graphicData uri="http://schemas.openxmlformats.org/drawingml/2006/table">
            <a:tbl>
              <a:tblPr firstRow="1" bandRow="1">
                <a:tableStyleId>{22838BEF-8BB2-4498-84A7-C5851F593DF1}</a:tableStyleId>
              </a:tblPr>
              <a:tblGrid>
                <a:gridCol w="2307955">
                  <a:extLst>
                    <a:ext uri="{9D8B030D-6E8A-4147-A177-3AD203B41FA5}">
                      <a16:colId xmlns:a16="http://schemas.microsoft.com/office/drawing/2014/main" val="4285174326"/>
                    </a:ext>
                  </a:extLst>
                </a:gridCol>
                <a:gridCol w="2307955">
                  <a:extLst>
                    <a:ext uri="{9D8B030D-6E8A-4147-A177-3AD203B41FA5}">
                      <a16:colId xmlns:a16="http://schemas.microsoft.com/office/drawing/2014/main" val="3520504578"/>
                    </a:ext>
                  </a:extLst>
                </a:gridCol>
              </a:tblGrid>
              <a:tr h="494285">
                <a:tc>
                  <a:txBody>
                    <a:bodyPr/>
                    <a:lstStyle/>
                    <a:p>
                      <a:r>
                        <a:rPr lang="en-US" dirty="0"/>
                        <a:t>Model</a:t>
                      </a:r>
                    </a:p>
                  </a:txBody>
                  <a:tcPr/>
                </a:tc>
                <a:tc>
                  <a:txBody>
                    <a:bodyPr/>
                    <a:lstStyle/>
                    <a:p>
                      <a:r>
                        <a:rPr lang="en-US" dirty="0"/>
                        <a:t>Accuracy</a:t>
                      </a:r>
                    </a:p>
                  </a:txBody>
                  <a:tcPr/>
                </a:tc>
                <a:extLst>
                  <a:ext uri="{0D108BD9-81ED-4DB2-BD59-A6C34878D82A}">
                    <a16:rowId xmlns:a16="http://schemas.microsoft.com/office/drawing/2014/main" val="2617507195"/>
                  </a:ext>
                </a:extLst>
              </a:tr>
              <a:tr h="494285">
                <a:tc>
                  <a:txBody>
                    <a:bodyPr/>
                    <a:lstStyle/>
                    <a:p>
                      <a:r>
                        <a:rPr lang="en-US" dirty="0"/>
                        <a:t>Logistic Regression</a:t>
                      </a:r>
                    </a:p>
                  </a:txBody>
                  <a:tcPr/>
                </a:tc>
                <a:tc>
                  <a:txBody>
                    <a:bodyPr/>
                    <a:lstStyle/>
                    <a:p>
                      <a:r>
                        <a:rPr lang="en-US" dirty="0"/>
                        <a:t>71.5%</a:t>
                      </a:r>
                    </a:p>
                  </a:txBody>
                  <a:tcPr/>
                </a:tc>
                <a:extLst>
                  <a:ext uri="{0D108BD9-81ED-4DB2-BD59-A6C34878D82A}">
                    <a16:rowId xmlns:a16="http://schemas.microsoft.com/office/drawing/2014/main" val="1584508820"/>
                  </a:ext>
                </a:extLst>
              </a:tr>
              <a:tr h="494285">
                <a:tc>
                  <a:txBody>
                    <a:bodyPr/>
                    <a:lstStyle/>
                    <a:p>
                      <a:r>
                        <a:rPr lang="en-US" dirty="0"/>
                        <a:t>Random Forest</a:t>
                      </a:r>
                    </a:p>
                  </a:txBody>
                  <a:tcPr/>
                </a:tc>
                <a:tc>
                  <a:txBody>
                    <a:bodyPr/>
                    <a:lstStyle/>
                    <a:p>
                      <a:r>
                        <a:rPr lang="en-US" dirty="0"/>
                        <a:t>72.5%</a:t>
                      </a:r>
                    </a:p>
                  </a:txBody>
                  <a:tcPr/>
                </a:tc>
                <a:extLst>
                  <a:ext uri="{0D108BD9-81ED-4DB2-BD59-A6C34878D82A}">
                    <a16:rowId xmlns:a16="http://schemas.microsoft.com/office/drawing/2014/main" val="3931738698"/>
                  </a:ext>
                </a:extLst>
              </a:tr>
              <a:tr h="494285">
                <a:tc>
                  <a:txBody>
                    <a:bodyPr/>
                    <a:lstStyle/>
                    <a:p>
                      <a:r>
                        <a:rPr lang="en-US" dirty="0"/>
                        <a:t>Support Vector Machine</a:t>
                      </a:r>
                    </a:p>
                  </a:txBody>
                  <a:tcPr/>
                </a:tc>
                <a:tc>
                  <a:txBody>
                    <a:bodyPr/>
                    <a:lstStyle/>
                    <a:p>
                      <a:r>
                        <a:rPr lang="en-US" dirty="0"/>
                        <a:t>74.9%</a:t>
                      </a:r>
                    </a:p>
                  </a:txBody>
                  <a:tcPr/>
                </a:tc>
                <a:extLst>
                  <a:ext uri="{0D108BD9-81ED-4DB2-BD59-A6C34878D82A}">
                    <a16:rowId xmlns:a16="http://schemas.microsoft.com/office/drawing/2014/main" val="2157929452"/>
                  </a:ext>
                </a:extLst>
              </a:tr>
            </a:tbl>
          </a:graphicData>
        </a:graphic>
      </p:graphicFrame>
      <p:sp>
        <p:nvSpPr>
          <p:cNvPr id="7" name="TextBox 6">
            <a:extLst>
              <a:ext uri="{FF2B5EF4-FFF2-40B4-BE49-F238E27FC236}">
                <a16:creationId xmlns:a16="http://schemas.microsoft.com/office/drawing/2014/main" id="{F66BBD3C-B669-02BC-E9A9-A5147C714D0C}"/>
              </a:ext>
            </a:extLst>
          </p:cNvPr>
          <p:cNvSpPr txBox="1"/>
          <p:nvPr/>
        </p:nvSpPr>
        <p:spPr>
          <a:xfrm>
            <a:off x="4913725" y="1166204"/>
            <a:ext cx="3251974" cy="369332"/>
          </a:xfrm>
          <a:prstGeom prst="rect">
            <a:avLst/>
          </a:prstGeom>
          <a:noFill/>
        </p:spPr>
        <p:txBody>
          <a:bodyPr wrap="square" rtlCol="0">
            <a:spAutoFit/>
          </a:bodyPr>
          <a:lstStyle/>
          <a:p>
            <a:pPr algn="ct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1842063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7069-A7DD-ACAE-A641-71B4CDC0A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5E94C-B38E-D42C-8DB4-81EFA35B92A5}"/>
              </a:ext>
            </a:extLst>
          </p:cNvPr>
          <p:cNvSpPr>
            <a:spLocks noGrp="1"/>
          </p:cNvSpPr>
          <p:nvPr>
            <p:ph type="ctrTitle"/>
          </p:nvPr>
        </p:nvSpPr>
        <p:spPr>
          <a:xfrm>
            <a:off x="296333" y="466419"/>
            <a:ext cx="7772400" cy="596149"/>
          </a:xfrm>
          <a:prstGeom prst="rect">
            <a:avLst/>
          </a:prstGeom>
        </p:spPr>
        <p:txBody>
          <a:bodyP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dirty="0"/>
              <a:t>Results &amp; </a:t>
            </a:r>
            <a:r>
              <a:rPr lang="en-US" dirty="0" err="1"/>
              <a:t>Streamlit</a:t>
            </a:r>
            <a:r>
              <a:rPr lang="en-US" dirty="0"/>
              <a:t> Application</a:t>
            </a:r>
          </a:p>
        </p:txBody>
      </p:sp>
      <p:sp>
        <p:nvSpPr>
          <p:cNvPr id="4" name="Subtitle 2">
            <a:extLst>
              <a:ext uri="{FF2B5EF4-FFF2-40B4-BE49-F238E27FC236}">
                <a16:creationId xmlns:a16="http://schemas.microsoft.com/office/drawing/2014/main" id="{EA3B6BC0-AB16-9C5D-EF6B-77A25908974F}"/>
              </a:ext>
            </a:extLst>
          </p:cNvPr>
          <p:cNvSpPr>
            <a:spLocks noGrp="1"/>
          </p:cNvSpPr>
          <p:nvPr>
            <p:ph type="subTitle" idx="1"/>
          </p:nvPr>
        </p:nvSpPr>
        <p:spPr>
          <a:xfrm>
            <a:off x="296332" y="1220565"/>
            <a:ext cx="4126811" cy="3456516"/>
          </a:xfrm>
          <a:prstGeom prst="rect">
            <a:avLst/>
          </a:prstGeom>
        </p:spPr>
        <p:txBody>
          <a:bodyPr anchor="t">
            <a:normAutofit fontScale="92500" lnSpcReduction="20000"/>
          </a:bodyPr>
          <a:lstStyle>
            <a:lvl1pPr marL="0" indent="0" algn="ctr">
              <a:buNone/>
              <a:defRPr sz="1800" b="0" i="0">
                <a:solidFill>
                  <a:schemeClr val="tx1">
                    <a:lumMod val="65000"/>
                    <a:lumOff val="35000"/>
                  </a:schemeClr>
                </a:solidFill>
                <a:latin typeface="Times New Roman" panose="02020603050405020304" pitchFamily="18" charset="0"/>
                <a:cs typeface="Times New Roman" panose="02020603050405020304"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lgn="l"/>
            <a:r>
              <a:rPr lang="en-US" sz="1900" b="1" dirty="0"/>
              <a:t>Best Model: </a:t>
            </a:r>
            <a:r>
              <a:rPr lang="en-US" sz="1900" dirty="0"/>
              <a:t>Support Vector Machine</a:t>
            </a:r>
          </a:p>
          <a:p>
            <a:pPr algn="l"/>
            <a:r>
              <a:rPr lang="en-US" sz="1900" b="1" dirty="0"/>
              <a:t>Performance: </a:t>
            </a:r>
          </a:p>
          <a:p>
            <a:pPr marL="285750" indent="-285750" algn="l">
              <a:buFont typeface="Arial" panose="020B0604020202020204" pitchFamily="34" charset="0"/>
              <a:buChar char="•"/>
            </a:pPr>
            <a:r>
              <a:rPr lang="en-US" sz="1900" dirty="0"/>
              <a:t>Accuracy: 74.9%</a:t>
            </a:r>
          </a:p>
          <a:p>
            <a:pPr marL="285750" indent="-285750" algn="l">
              <a:buFont typeface="Arial" panose="020B0604020202020204" pitchFamily="34" charset="0"/>
              <a:buChar char="•"/>
            </a:pPr>
            <a:r>
              <a:rPr lang="en-US" sz="1900" dirty="0"/>
              <a:t>Precision: 76.0%</a:t>
            </a:r>
          </a:p>
          <a:p>
            <a:pPr marL="285750" indent="-285750" algn="l">
              <a:buFont typeface="Arial" panose="020B0604020202020204" pitchFamily="34" charset="0"/>
              <a:buChar char="•"/>
            </a:pPr>
            <a:r>
              <a:rPr lang="en-US" sz="1900" dirty="0"/>
              <a:t>Recall: 75.0%</a:t>
            </a:r>
          </a:p>
          <a:p>
            <a:pPr marL="285750" indent="-285750" algn="l">
              <a:buFont typeface="Arial" panose="020B0604020202020204" pitchFamily="34" charset="0"/>
              <a:buChar char="•"/>
            </a:pPr>
            <a:r>
              <a:rPr lang="en-US" sz="1900" dirty="0"/>
              <a:t>F1 Score: 74.0%</a:t>
            </a:r>
          </a:p>
          <a:p>
            <a:pPr algn="l"/>
            <a:r>
              <a:rPr lang="en-US" sz="1900" b="1" dirty="0" err="1"/>
              <a:t>Streamlit</a:t>
            </a:r>
            <a:r>
              <a:rPr lang="en-US" sz="1900" b="1" dirty="0"/>
              <a:t> Dashboard:</a:t>
            </a:r>
          </a:p>
          <a:p>
            <a:pPr marL="285750" indent="-285750" algn="l">
              <a:buFont typeface="Arial" panose="020B0604020202020204" pitchFamily="34" charset="0"/>
              <a:buChar char="•"/>
            </a:pPr>
            <a:r>
              <a:rPr lang="en-US" sz="1900" dirty="0"/>
              <a:t>Dataset exploration</a:t>
            </a:r>
          </a:p>
          <a:p>
            <a:pPr marL="285750" indent="-285750" algn="l">
              <a:buFont typeface="Arial" panose="020B0604020202020204" pitchFamily="34" charset="0"/>
              <a:buChar char="•"/>
            </a:pPr>
            <a:r>
              <a:rPr lang="en-US" sz="1900" dirty="0"/>
              <a:t>Interactive visualizations</a:t>
            </a:r>
          </a:p>
          <a:p>
            <a:pPr marL="285750" indent="-285750" algn="l">
              <a:buFont typeface="Arial" panose="020B0604020202020204" pitchFamily="34" charset="0"/>
              <a:buChar char="•"/>
            </a:pPr>
            <a:r>
              <a:rPr lang="en-US" sz="1900" dirty="0"/>
              <a:t>Model evaluation</a:t>
            </a:r>
          </a:p>
          <a:p>
            <a:pPr marL="285750" indent="-285750" algn="l">
              <a:buFont typeface="Arial" panose="020B0604020202020204" pitchFamily="34" charset="0"/>
              <a:buChar char="•"/>
            </a:pPr>
            <a:r>
              <a:rPr lang="en-US" sz="1900" dirty="0"/>
              <a:t>Live image prediction</a:t>
            </a:r>
          </a:p>
          <a:p>
            <a:pPr algn="l"/>
            <a:endParaRPr lang="en-US" b="1" dirty="0"/>
          </a:p>
        </p:txBody>
      </p:sp>
      <p:pic>
        <p:nvPicPr>
          <p:cNvPr id="11" name="Picture 10" descr="A screenshot of a phone&#10;&#10;AI-generated content may be incorrect.">
            <a:extLst>
              <a:ext uri="{FF2B5EF4-FFF2-40B4-BE49-F238E27FC236}">
                <a16:creationId xmlns:a16="http://schemas.microsoft.com/office/drawing/2014/main" id="{386DD340-F117-D1F6-A085-E3443D1DE682}"/>
              </a:ext>
            </a:extLst>
          </p:cNvPr>
          <p:cNvPicPr>
            <a:picLocks noChangeAspect="1"/>
          </p:cNvPicPr>
          <p:nvPr/>
        </p:nvPicPr>
        <p:blipFill>
          <a:blip r:embed="rId3"/>
          <a:srcRect b="21382"/>
          <a:stretch>
            <a:fillRect/>
          </a:stretch>
        </p:blipFill>
        <p:spPr>
          <a:xfrm>
            <a:off x="5621868" y="764493"/>
            <a:ext cx="3225800" cy="4201326"/>
          </a:xfrm>
          <a:prstGeom prst="rect">
            <a:avLst/>
          </a:prstGeom>
        </p:spPr>
      </p:pic>
    </p:spTree>
    <p:extLst>
      <p:ext uri="{BB962C8B-B14F-4D97-AF65-F5344CB8AC3E}">
        <p14:creationId xmlns:p14="http://schemas.microsoft.com/office/powerpoint/2010/main" val="1502297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644A7-29DC-5365-6ADF-9C72167DC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8DB78-3ADF-614B-C755-ED42E80944CC}"/>
              </a:ext>
            </a:extLst>
          </p:cNvPr>
          <p:cNvSpPr>
            <a:spLocks noGrp="1"/>
          </p:cNvSpPr>
          <p:nvPr>
            <p:ph type="ctrTitle"/>
          </p:nvPr>
        </p:nvSpPr>
        <p:spPr>
          <a:xfrm>
            <a:off x="296333" y="466419"/>
            <a:ext cx="7772400" cy="596149"/>
          </a:xfrm>
          <a:prstGeom prst="rect">
            <a:avLst/>
          </a:prstGeom>
        </p:spPr>
        <p:txBody>
          <a:bodyPr>
            <a:normAutofit/>
          </a:bodyPr>
          <a:lstStyle>
            <a:lvl1pPr algn="ctr">
              <a:defRPr sz="2700" b="1" i="0" baseline="0">
                <a:ln>
                  <a:noFill/>
                </a:ln>
                <a:solidFill>
                  <a:srgbClr val="18453B"/>
                </a:solidFill>
                <a:latin typeface="Arial" panose="020B0604020202020204" pitchFamily="34" charset="0"/>
                <a:cs typeface="Arial" panose="020B0604020202020204" pitchFamily="34" charset="0"/>
              </a:defRPr>
            </a:lvl1pPr>
          </a:lstStyle>
          <a:p>
            <a:pPr algn="l"/>
            <a:r>
              <a:rPr lang="en-US" dirty="0"/>
              <a:t>Conclusions and Future Work</a:t>
            </a:r>
          </a:p>
        </p:txBody>
      </p:sp>
      <p:sp>
        <p:nvSpPr>
          <p:cNvPr id="3" name="TextBox 2">
            <a:extLst>
              <a:ext uri="{FF2B5EF4-FFF2-40B4-BE49-F238E27FC236}">
                <a16:creationId xmlns:a16="http://schemas.microsoft.com/office/drawing/2014/main" id="{0BF92854-71AF-9BD8-FBC1-651987A99126}"/>
              </a:ext>
            </a:extLst>
          </p:cNvPr>
          <p:cNvSpPr txBox="1"/>
          <p:nvPr/>
        </p:nvSpPr>
        <p:spPr>
          <a:xfrm>
            <a:off x="3096490" y="1003905"/>
            <a:ext cx="6047510" cy="4139595"/>
          </a:xfrm>
          <a:prstGeom prst="rect">
            <a:avLst/>
          </a:prstGeom>
          <a:noFill/>
        </p:spPr>
        <p:txBody>
          <a:bodyPr wrap="square" rtlCol="0">
            <a:spAutoFit/>
          </a:bodyPr>
          <a:lstStyle/>
          <a:p>
            <a:pPr>
              <a:lnSpc>
                <a:spcPct val="90000"/>
              </a:lnSpc>
              <a:spcBef>
                <a:spcPts val="750"/>
              </a:spcBef>
            </a:pP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Key Findings:</a:t>
            </a:r>
          </a:p>
          <a:p>
            <a:pPr marL="285750" indent="-285750">
              <a:lnSpc>
                <a:spcPct val="90000"/>
              </a:lnSpc>
              <a:spcBef>
                <a:spcPts val="750"/>
              </a:spcBef>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Color and brightness features were useful predictors</a:t>
            </a:r>
          </a:p>
          <a:p>
            <a:pPr marL="285750" indent="-285750">
              <a:lnSpc>
                <a:spcPct val="90000"/>
              </a:lnSpc>
              <a:spcBef>
                <a:spcPts val="750"/>
              </a:spcBef>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The SVM achieved the strongest performance</a:t>
            </a:r>
          </a:p>
          <a:p>
            <a:pPr marL="285750" indent="-285750">
              <a:lnSpc>
                <a:spcPct val="90000"/>
              </a:lnSpc>
              <a:spcBef>
                <a:spcPts val="750"/>
              </a:spcBef>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The workflow was able to successfully connect image analysis, machine learning, and creating an interactive app</a:t>
            </a:r>
          </a:p>
          <a:p>
            <a:r>
              <a:rPr lang="en-US" b="1" dirty="0">
                <a:solidFill>
                  <a:schemeClr val="tx1">
                    <a:lumMod val="65000"/>
                    <a:lumOff val="35000"/>
                  </a:schemeClr>
                </a:solidFill>
                <a:latin typeface="Times New Roman" panose="02020603050405020304" pitchFamily="18" charset="0"/>
                <a:cs typeface="Times New Roman" panose="02020603050405020304" pitchFamily="18" charset="0"/>
              </a:rPr>
              <a:t>Future Work:</a:t>
            </a:r>
          </a:p>
          <a:p>
            <a:pPr marL="285750" indent="-285750">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Integrating:</a:t>
            </a:r>
          </a:p>
          <a:p>
            <a:pPr marL="742950" lvl="1" indent="-285750">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Texture-based features</a:t>
            </a:r>
          </a:p>
          <a:p>
            <a:pPr marL="742950" lvl="1" indent="-285750">
              <a:buFont typeface="Arial" panose="020B0604020202020204" pitchFamily="34" charset="0"/>
              <a:buChar char="•"/>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Convolutional Neural Networks (CNNs)</a:t>
            </a:r>
          </a:p>
          <a:p>
            <a:pPr marL="742950" lvl="1" indent="-285750">
              <a:buFont typeface="Arial" panose="020B0604020202020204" pitchFamily="34" charset="0"/>
              <a:buChar char="•"/>
            </a:pPr>
            <a:endParaRPr lang="en-US" dirty="0">
              <a:solidFill>
                <a:schemeClr val="tx1">
                  <a:lumMod val="65000"/>
                  <a:lumOff val="35000"/>
                </a:schemeClr>
              </a:solidFill>
              <a:latin typeface="Times New Roman" panose="02020603050405020304" pitchFamily="18" charset="0"/>
              <a:cs typeface="Times New Roman" panose="02020603050405020304" pitchFamily="18" charset="0"/>
            </a:endParaRPr>
          </a:p>
          <a:p>
            <a:pPr algn="ctr"/>
            <a:r>
              <a:rPr lang="en-US" b="1" dirty="0">
                <a:solidFill>
                  <a:schemeClr val="tx1">
                    <a:lumMod val="65000"/>
                    <a:lumOff val="35000"/>
                  </a:schemeClr>
                </a:solidFill>
                <a:latin typeface="Times New Roman" panose="02020603050405020304" pitchFamily="18" charset="0"/>
                <a:cs typeface="Times New Roman" panose="02020603050405020304" pitchFamily="18" charset="0"/>
              </a:rPr>
              <a:t>Final Takeaway: Simple image derived features can provide meaningful information for detecting powdery mildew in cherry leaves and serve as the foundation for a more robust machine learning application</a:t>
            </a:r>
          </a:p>
        </p:txBody>
      </p:sp>
      <p:pic>
        <p:nvPicPr>
          <p:cNvPr id="11" name="Picture 10" descr="A blue circle with white text&#10;&#10;AI-generated content may be incorrect.">
            <a:extLst>
              <a:ext uri="{FF2B5EF4-FFF2-40B4-BE49-F238E27FC236}">
                <a16:creationId xmlns:a16="http://schemas.microsoft.com/office/drawing/2014/main" id="{9BCEBB4F-6FD4-611B-AE1C-CDB2839DF75A}"/>
              </a:ext>
            </a:extLst>
          </p:cNvPr>
          <p:cNvPicPr>
            <a:picLocks noChangeAspect="1"/>
          </p:cNvPicPr>
          <p:nvPr/>
        </p:nvPicPr>
        <p:blipFill>
          <a:blip r:embed="rId3"/>
          <a:stretch>
            <a:fillRect/>
          </a:stretch>
        </p:blipFill>
        <p:spPr>
          <a:xfrm>
            <a:off x="296333" y="1284625"/>
            <a:ext cx="2719428" cy="2574250"/>
          </a:xfrm>
          <a:prstGeom prst="rect">
            <a:avLst/>
          </a:prstGeom>
        </p:spPr>
      </p:pic>
    </p:spTree>
    <p:extLst>
      <p:ext uri="{BB962C8B-B14F-4D97-AF65-F5344CB8AC3E}">
        <p14:creationId xmlns:p14="http://schemas.microsoft.com/office/powerpoint/2010/main" val="25723391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gt;&lt;/object&gt;&lt;/database&gt;"/>
</p:tagLst>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12892</TotalTime>
  <Words>655</Words>
  <Application>Microsoft Macintosh PowerPoint</Application>
  <PresentationFormat>On-screen Show (16:9)</PresentationFormat>
  <Paragraphs>103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2013 - 2022 Theme</vt:lpstr>
      <vt:lpstr>CMSE 830: Midterm Project Presentation Cherry Leaf Powdery Mildew Detection Using Machine Learning</vt:lpstr>
      <vt:lpstr>Motivation and Problem</vt:lpstr>
      <vt:lpstr>Turning Images Into Data</vt:lpstr>
      <vt:lpstr>Exploratory Data Analysis</vt:lpstr>
      <vt:lpstr>Model Selection and Comparison</vt:lpstr>
      <vt:lpstr>Results &amp; Streamlit Application</vt:lpstr>
      <vt:lpstr>Conclusions and Future Work</vt:lpstr>
    </vt:vector>
  </TitlesOfParts>
  <Company>Michigan State University College of Agriculture &amp; Natural Resources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Michigan State University Extension</dc:creator>
  <cp:lastModifiedBy>Salazar-Lucero, Jazlyn</cp:lastModifiedBy>
  <cp:revision>219</cp:revision>
  <cp:lastPrinted>2016-10-10T18:29:39Z</cp:lastPrinted>
  <dcterms:created xsi:type="dcterms:W3CDTF">2010-09-21T16:06:10Z</dcterms:created>
  <dcterms:modified xsi:type="dcterms:W3CDTF">2026-10-22T00:27:24Z</dcterms:modified>
</cp:coreProperties>
</file>